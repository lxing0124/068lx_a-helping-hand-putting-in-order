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  <p:sldMasterId id="2147483690" r:id="rId18"/>
    <p:sldMasterId id="2147483692" r:id="rId19"/>
    <p:sldMasterId id="2147483694" r:id="rId20"/>
    <p:sldMasterId id="2147483696" r:id="rId21"/>
    <p:sldMasterId id="2147483698" r:id="rId22"/>
    <p:sldMasterId id="2147483700" r:id="rId23"/>
    <p:sldMasterId id="2147483702" r:id="rId24"/>
    <p:sldMasterId id="2147483704" r:id="rId25"/>
    <p:sldMasterId id="2147483706" r:id="rId26"/>
  </p:sldMasterIdLst>
  <p:notesMasterIdLst>
    <p:notesMasterId r:id="rId28"/>
  </p:notesMasterIdLst>
  <p:handoutMasterIdLst>
    <p:handoutMasterId r:id="rId61"/>
  </p:handoutMasterIdLst>
  <p:sldIdLst>
    <p:sldId id="256" r:id="rId27"/>
    <p:sldId id="257" r:id="rId29"/>
    <p:sldId id="258" r:id="rId30"/>
    <p:sldId id="259" r:id="rId31"/>
    <p:sldId id="260" r:id="rId32"/>
    <p:sldId id="299" r:id="rId33"/>
    <p:sldId id="261" r:id="rId34"/>
    <p:sldId id="262" r:id="rId35"/>
    <p:sldId id="266" r:id="rId36"/>
    <p:sldId id="273" r:id="rId37"/>
    <p:sldId id="291" r:id="rId38"/>
    <p:sldId id="300" r:id="rId39"/>
    <p:sldId id="275" r:id="rId40"/>
    <p:sldId id="276" r:id="rId41"/>
    <p:sldId id="294" r:id="rId42"/>
    <p:sldId id="293" r:id="rId43"/>
    <p:sldId id="277" r:id="rId44"/>
    <p:sldId id="278" r:id="rId45"/>
    <p:sldId id="279" r:id="rId46"/>
    <p:sldId id="280" r:id="rId47"/>
    <p:sldId id="297" r:id="rId48"/>
    <p:sldId id="298" r:id="rId49"/>
    <p:sldId id="281" r:id="rId50"/>
    <p:sldId id="282" r:id="rId51"/>
    <p:sldId id="283" r:id="rId52"/>
    <p:sldId id="295" r:id="rId53"/>
    <p:sldId id="296" r:id="rId54"/>
    <p:sldId id="284" r:id="rId55"/>
    <p:sldId id="285" r:id="rId56"/>
    <p:sldId id="286" r:id="rId57"/>
    <p:sldId id="270" r:id="rId58"/>
    <p:sldId id="302" r:id="rId59"/>
    <p:sldId id="272" r:id="rId6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76" userDrawn="1">
          <p15:clr>
            <a:srgbClr val="747775"/>
          </p15:clr>
        </p15:guide>
        <p15:guide id="2" pos="283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B5A9"/>
    <a:srgbClr val="57836C"/>
    <a:srgbClr val="5A8F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76"/>
        <p:guide pos="283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3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2.xml"/><Relationship Id="rId58" Type="http://schemas.openxmlformats.org/officeDocument/2006/relationships/slide" Target="slides/slide31.xml"/><Relationship Id="rId57" Type="http://schemas.openxmlformats.org/officeDocument/2006/relationships/slide" Target="slides/slide30.xml"/><Relationship Id="rId56" Type="http://schemas.openxmlformats.org/officeDocument/2006/relationships/slide" Target="slides/slide29.xml"/><Relationship Id="rId55" Type="http://schemas.openxmlformats.org/officeDocument/2006/relationships/slide" Target="slides/slide28.xml"/><Relationship Id="rId54" Type="http://schemas.openxmlformats.org/officeDocument/2006/relationships/slide" Target="slides/slide27.xml"/><Relationship Id="rId53" Type="http://schemas.openxmlformats.org/officeDocument/2006/relationships/slide" Target="slides/slide26.xml"/><Relationship Id="rId52" Type="http://schemas.openxmlformats.org/officeDocument/2006/relationships/slide" Target="slides/slide25.xml"/><Relationship Id="rId51" Type="http://schemas.openxmlformats.org/officeDocument/2006/relationships/slide" Target="slides/slide24.xml"/><Relationship Id="rId50" Type="http://schemas.openxmlformats.org/officeDocument/2006/relationships/slide" Target="slides/slide2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2.xml"/><Relationship Id="rId48" Type="http://schemas.openxmlformats.org/officeDocument/2006/relationships/slide" Target="slides/slide21.xml"/><Relationship Id="rId47" Type="http://schemas.openxmlformats.org/officeDocument/2006/relationships/slide" Target="slides/slide20.xml"/><Relationship Id="rId46" Type="http://schemas.openxmlformats.org/officeDocument/2006/relationships/slide" Target="slides/slide19.xml"/><Relationship Id="rId45" Type="http://schemas.openxmlformats.org/officeDocument/2006/relationships/slide" Target="slides/slide18.xml"/><Relationship Id="rId44" Type="http://schemas.openxmlformats.org/officeDocument/2006/relationships/slide" Target="slides/slide17.xml"/><Relationship Id="rId43" Type="http://schemas.openxmlformats.org/officeDocument/2006/relationships/slide" Target="slides/slide16.xml"/><Relationship Id="rId42" Type="http://schemas.openxmlformats.org/officeDocument/2006/relationships/slide" Target="slides/slide15.xml"/><Relationship Id="rId41" Type="http://schemas.openxmlformats.org/officeDocument/2006/relationships/slide" Target="slides/slide14.xml"/><Relationship Id="rId40" Type="http://schemas.openxmlformats.org/officeDocument/2006/relationships/slide" Target="slides/slide1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2.xml"/><Relationship Id="rId38" Type="http://schemas.openxmlformats.org/officeDocument/2006/relationships/slide" Target="slides/slide11.xml"/><Relationship Id="rId37" Type="http://schemas.openxmlformats.org/officeDocument/2006/relationships/slide" Target="slides/slide10.xml"/><Relationship Id="rId36" Type="http://schemas.openxmlformats.org/officeDocument/2006/relationships/slide" Target="slides/slide9.xml"/><Relationship Id="rId35" Type="http://schemas.openxmlformats.org/officeDocument/2006/relationships/slide" Target="slides/slide8.xml"/><Relationship Id="rId34" Type="http://schemas.openxmlformats.org/officeDocument/2006/relationships/slide" Target="slides/slide7.xml"/><Relationship Id="rId33" Type="http://schemas.openxmlformats.org/officeDocument/2006/relationships/slide" Target="slides/slide6.xml"/><Relationship Id="rId32" Type="http://schemas.openxmlformats.org/officeDocument/2006/relationships/slide" Target="slides/slide5.xml"/><Relationship Id="rId31" Type="http://schemas.openxmlformats.org/officeDocument/2006/relationships/slide" Target="slides/slide4.xml"/><Relationship Id="rId30" Type="http://schemas.openxmlformats.org/officeDocument/2006/relationships/slide" Target="slides/slide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3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3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3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3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tags" Target="../tags/tag10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tags" Target="../tags/tag23.xml"/><Relationship Id="rId21" Type="http://schemas.openxmlformats.org/officeDocument/2006/relationships/image" Target="../media/image10.svg"/><Relationship Id="rId20" Type="http://schemas.openxmlformats.org/officeDocument/2006/relationships/image" Target="../media/image9.png"/><Relationship Id="rId2" Type="http://schemas.openxmlformats.org/officeDocument/2006/relationships/tags" Target="../tags/tag9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image" Target="../media/image8.svg"/><Relationship Id="rId12" Type="http://schemas.openxmlformats.org/officeDocument/2006/relationships/image" Target="../media/image7.png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9" Type="http://schemas.openxmlformats.org/officeDocument/2006/relationships/notesSlide" Target="../notesSlides/notesSlide5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44.xml"/><Relationship Id="rId26" Type="http://schemas.openxmlformats.org/officeDocument/2006/relationships/image" Target="../media/image18.svg"/><Relationship Id="rId25" Type="http://schemas.openxmlformats.org/officeDocument/2006/relationships/image" Target="../media/image17.png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image" Target="../media/image16.svg"/><Relationship Id="rId20" Type="http://schemas.openxmlformats.org/officeDocument/2006/relationships/image" Target="../media/image15.png"/><Relationship Id="rId2" Type="http://schemas.openxmlformats.org/officeDocument/2006/relationships/tags" Target="../tags/tag27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image" Target="../media/image14.svg"/><Relationship Id="rId1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hyperlink" Target="https://osf.io/8btme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4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32.png"/><Relationship Id="rId1" Type="http://schemas.openxmlformats.org/officeDocument/2006/relationships/tags" Target="../tags/tag46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3.png"/><Relationship Id="rId1" Type="http://schemas.openxmlformats.org/officeDocument/2006/relationships/tags" Target="../tags/tag4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3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30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0" Type="http://schemas.openxmlformats.org/officeDocument/2006/relationships/notesSlide" Target="../notesSlides/notesSlide32.xml"/><Relationship Id="rId1" Type="http://schemas.openxmlformats.org/officeDocument/2006/relationships/tags" Target="../tags/tag4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0" y="5943600"/>
            <a:ext cx="12192000" cy="915035"/>
          </a:xfrm>
          <a:prstGeom prst="roundRect">
            <a:avLst>
              <a:gd name="adj" fmla="val 0"/>
            </a:avLst>
          </a:prstGeom>
          <a:solidFill>
            <a:srgbClr val="5A8F7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</a:t>
            </a:r>
            <a:r>
              <a:rPr lang="en-US" sz="4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Rinaldi等人(2016)</a:t>
            </a:r>
            <a:r>
              <a:rPr lang="zh-CN" altLang="en-US" sz="4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研究结果的</a:t>
            </a:r>
            <a:endParaRPr lang="zh-CN" altLang="en-US" sz="4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计算可复现性检验</a:t>
            </a:r>
            <a:endParaRPr lang="zh-CN" altLang="en-US" sz="4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56000" y="3322320"/>
            <a:ext cx="10080000" cy="508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206183" y="4576445"/>
            <a:ext cx="9779635" cy="9290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汇报人：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凌幸</a:t>
            </a:r>
            <a:endParaRPr lang="zh-CN" alt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0" indent="0" algn="ctr">
              <a:lnSpc>
                <a:spcPct val="150000"/>
              </a:lnSpc>
              <a:defRPr/>
            </a:pPr>
            <a:r>
              <a:rPr lang="en-US" sz="2000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2026年6月25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日</a:t>
            </a:r>
            <a:endParaRPr lang="zh-CN" altLang="en-US" sz="2000" b="0" i="0" u="none" strike="noStrike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5942965"/>
            <a:ext cx="12192000" cy="9150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Rinaldi, L., Di Luca, S., Henik, A., &amp; Girelli, L. (2016). A helping hand putting in order: Visuomotor routines organize numerical and non-numerical sequences in space.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</a:rPr>
              <a:t>Cognition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zh-CN" sz="1800" i="1">
                <a:latin typeface="Times New Roman" panose="02020603050405020304" charset="0"/>
                <a:cs typeface="Times New Roman" panose="02020603050405020304" charset="0"/>
              </a:rPr>
              <a:t>152</a:t>
            </a:r>
            <a:r>
              <a:rPr lang="en-US" altLang="zh-CN" sz="1800">
                <a:latin typeface="Times New Roman" panose="02020603050405020304" charset="0"/>
                <a:cs typeface="Times New Roman" panose="02020603050405020304" charset="0"/>
              </a:rPr>
              <a:t>, 40–52. https://doi.org/10.1016/j.cognition.2016.03.003</a:t>
            </a:r>
            <a:endParaRPr lang="en-US" altLang="zh-CN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05840" y="3493135"/>
            <a:ext cx="10180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latin typeface="楷体" panose="02010609060101010101" charset="-122"/>
                <a:ea typeface="楷体" panose="02010609060101010101" charset="-122"/>
              </a:rPr>
              <a:t>援手有序：视运动惯例对数字与非数字序列空间表征的组织作用</a:t>
            </a:r>
            <a:endParaRPr lang="zh-CN" altLang="en-US" sz="28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36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5A8F7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Part 1：文献介绍</a:t>
            </a:r>
            <a:endParaRPr lang="en-US" sz="2800" b="1" i="0" u="none" strike="noStrike">
              <a:solidFill>
                <a:srgbClr val="5A8F7B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318260" y="2777490"/>
            <a:ext cx="4460240" cy="2765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914400" lvl="2" indent="0" algn="l">
              <a:lnSpc>
                <a:spcPct val="200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01. 背景与问题</a:t>
            </a:r>
            <a:endParaRPr lang="en-US" b="1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914400" lvl="2" indent="0" algn="l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02. 实验设计</a:t>
            </a:r>
            <a:endParaRPr lang="en-US" sz="2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914400" lvl="2" indent="0" algn="l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03. 实验结果</a:t>
            </a:r>
            <a:endParaRPr lang="en-US" sz="2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86500" y="1651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5A8F7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540500" y="19685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Part 2：计算可复现性检验</a:t>
            </a:r>
            <a:endParaRPr lang="en-US" sz="2800" b="1" i="0" u="none" strike="noStrike">
              <a:solidFill>
                <a:srgbClr val="5A8F7B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9167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540500" y="2777490"/>
            <a:ext cx="4762500" cy="2765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457200" lvl="1" indent="0" algn="l">
              <a:lnSpc>
                <a:spcPct val="200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01. 复现方案</a:t>
            </a:r>
            <a:endParaRPr lang="en-US" b="1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457200" lvl="1" indent="0" algn="l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02. 结果对比分析</a:t>
            </a:r>
            <a:endParaRPr lang="en-US" sz="2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457200" lvl="1" indent="0" algn="l">
              <a:lnSpc>
                <a:spcPct val="200000"/>
              </a:lnSpc>
            </a:pPr>
            <a:r>
              <a:rPr 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03. 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整体</a:t>
            </a:r>
            <a:r>
              <a:rPr 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评价与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偏差原因</a:t>
            </a:r>
            <a:endParaRPr lang="zh-CN" altLang="en-US" sz="2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 研究背景与争议</a:t>
            </a:r>
            <a:endParaRPr 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09725"/>
            <a:ext cx="9855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20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🌟</a:t>
            </a:r>
            <a:r>
              <a:rPr lang="en-US" sz="20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  经典现象：SNARC效应 </a:t>
            </a:r>
            <a:r>
              <a:rPr lang="en-US" sz="20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(Spatial Numerical Association of Response Codes)</a:t>
            </a:r>
            <a:endParaRPr lang="en-US" sz="2000" b="1" i="0" u="none" strike="noStrike">
              <a:solidFill>
                <a:srgbClr val="5A8F7B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24890" y="2200910"/>
            <a:ext cx="9735185" cy="1013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西方被试：</a:t>
            </a:r>
            <a:r>
              <a:rPr lang="en-US" sz="2000" b="1" i="0" u="none" strike="noStrike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左手</a:t>
            </a: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小数</a:t>
            </a: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反应更快，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右手</a:t>
            </a: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大数</a:t>
            </a: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反应更快 (</a:t>
            </a:r>
            <a:r>
              <a:rPr lang="en-US" altLang="zh-CN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Dehaene et al., 1993)</a:t>
            </a: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。</a:t>
            </a:r>
            <a:endParaRPr lang="en-US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心理数字线 (MNL)</a:t>
            </a:r>
            <a:r>
              <a:rPr lang="en-US" sz="2000" b="1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数字在心理空间内</a:t>
            </a:r>
            <a:r>
              <a:rPr lang="en-US" sz="20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从左到右</a:t>
            </a:r>
            <a:r>
              <a:rPr lang="en-US" sz="2000" b="0" i="0" u="none" strike="noStrike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排列。</a:t>
            </a:r>
            <a:endParaRPr lang="en-US" sz="2000" b="0" i="0" u="none" strike="noStrike">
              <a:solidFill>
                <a:srgbClr val="505050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410" y="39497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004570" y="3901440"/>
            <a:ext cx="505333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（一）文化观: 阅读方向 (Reading Direction, RD)</a:t>
            </a:r>
            <a:endParaRPr lang="en-US" sz="1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740410" y="4511040"/>
            <a:ext cx="523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读写时的扫描方向会塑造内部表征的空间偏好。</a:t>
            </a:r>
            <a:endParaRPr lang="en-US" sz="12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希伯来语人群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（</a:t>
            </a: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从右到左书写</a:t>
            </a: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）</a:t>
            </a: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，SNARC效应出现反转或显著弱化。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2690" y="39497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546850" y="3901440"/>
            <a:ext cx="4717679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（二）具身观: 手指计数 (Finger Counting, FC)</a:t>
            </a:r>
            <a:endParaRPr lang="en-US" sz="18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282690" y="4511040"/>
            <a:ext cx="5232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儿童期用手指计数的具身经验是空间映射的根源。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原始的认知表征</a:t>
            </a: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，优先级可能高于后天习得的阅读习惯。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21590450">
            <a:off x="696000" y="3470387"/>
            <a:ext cx="1080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" name="Connector 13"/>
          <p:cNvCxnSpPr/>
          <p:nvPr>
            <p:custDataLst>
              <p:tags r:id="rId11"/>
            </p:custDataLst>
          </p:nvPr>
        </p:nvCxnSpPr>
        <p:spPr>
          <a:xfrm rot="16190449">
            <a:off x="4727565" y="4902901"/>
            <a:ext cx="270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 研究问题</a:t>
            </a:r>
            <a:endParaRPr 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795000" cy="1270000"/>
          </a:xfrm>
          <a:prstGeom prst="roundRect">
            <a:avLst>
              <a:gd name="adj" fmla="val 0"/>
            </a:avLst>
          </a:prstGeom>
          <a:solidFill>
            <a:srgbClr val="5A8F7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79500" y="1778000"/>
            <a:ext cx="10156881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核心问题：</a:t>
            </a:r>
            <a:r>
              <a:rPr lang="en-US" sz="18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手指计数习惯（FC）</a:t>
            </a:r>
            <a:r>
              <a:rPr lang="en-US" sz="1800" b="0" i="0" u="none" strike="noStrike">
                <a:solidFill>
                  <a:srgbClr val="444444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与</a:t>
            </a:r>
            <a:r>
              <a:rPr lang="en-US" sz="18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阅读方向（RD）</a:t>
            </a:r>
            <a:r>
              <a:rPr lang="zh-CN" altLang="en-US" sz="1800" b="0" i="0" u="none" strike="noStrike">
                <a:solidFill>
                  <a:srgbClr val="444444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作为两种基础的空间经验，是如何</a:t>
            </a:r>
            <a:r>
              <a:rPr lang="zh-CN" altLang="en-US" sz="1800">
                <a:solidFill>
                  <a:srgbClr val="444444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作用于</a:t>
            </a:r>
            <a:r>
              <a:rPr lang="zh-CN" altLang="en-US" sz="1800" b="0" i="0" u="none" strike="noStrike">
                <a:solidFill>
                  <a:srgbClr val="444444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数字与非数字序列的空间表征？</a:t>
            </a:r>
            <a:endParaRPr lang="zh-CN" altLang="en-US" sz="1800" b="0" i="0" u="none" strike="noStrike">
              <a:solidFill>
                <a:srgbClr val="444444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62000" y="3429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1348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333500" y="3688080"/>
            <a:ext cx="2653248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实验1：数字表征溯源</a:t>
            </a:r>
            <a:endParaRPr lang="en-US" sz="1800" b="1" i="0" u="none" strike="noStrike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14323">
            <a:off x="9525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952500" y="4508500"/>
            <a:ext cx="3048000" cy="14394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验证数字的空间映射是遵循心理数字线（MNL），还是手指计数习惯（FC）。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4445000" y="3429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4445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5500" y="371348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5049989" y="3688080"/>
            <a:ext cx="2653248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实验2：跨语言稳定性检验</a:t>
            </a:r>
            <a:endParaRPr lang="en-US" sz="1800" b="1" i="0" u="none" strike="noStrike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15"/>
            </p:custDataLst>
          </p:nvPr>
        </p:nvCxnSpPr>
        <p:spPr>
          <a:xfrm rot="-14323">
            <a:off x="46355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6"/>
            </p:custDataLst>
          </p:nvPr>
        </p:nvSpPr>
        <p:spPr>
          <a:xfrm>
            <a:off x="4635500" y="4508500"/>
            <a:ext cx="3048000" cy="14394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探究 FC 映射是否独立于阅读方向，且具有跨语言稳定性？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7"/>
            </p:custDataLst>
          </p:nvPr>
        </p:nvSpPr>
        <p:spPr>
          <a:xfrm>
            <a:off x="8128000" y="3429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9" name="AutoShape 19"/>
          <p:cNvSpPr/>
          <p:nvPr>
            <p:custDataLst>
              <p:tags r:id="rId18"/>
            </p:custDataLst>
          </p:nvPr>
        </p:nvSpPr>
        <p:spPr>
          <a:xfrm>
            <a:off x="8128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18500" y="371348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2"/>
            </p:custDataLst>
          </p:nvPr>
        </p:nvSpPr>
        <p:spPr>
          <a:xfrm>
            <a:off x="8751352" y="3688080"/>
            <a:ext cx="2653248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实验3：非数字序列的拓展</a:t>
            </a:r>
            <a:endParaRPr lang="en-US" sz="1800" b="1" i="0" u="none" strike="noStrike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>
            <p:custDataLst>
              <p:tags r:id="rId23"/>
            </p:custDataLst>
          </p:nvPr>
        </p:nvCxnSpPr>
        <p:spPr>
          <a:xfrm rot="-14323">
            <a:off x="8318513" y="4311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4"/>
            </p:custDataLst>
          </p:nvPr>
        </p:nvSpPr>
        <p:spPr>
          <a:xfrm>
            <a:off x="8318500" y="4508500"/>
            <a:ext cx="3048000" cy="14394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探索 FC 是否同样影响有顺序的非数字序列（星期）？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24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407160" y="1498600"/>
            <a:ext cx="4291330" cy="2091055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4160" y="1625600"/>
            <a:ext cx="401955" cy="372745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2047875" y="1625600"/>
            <a:ext cx="2515870" cy="387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被试：双向阅读者</a:t>
            </a:r>
            <a:endParaRPr lang="en-US" sz="20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>
            <p:custDataLst>
              <p:tags r:id="rId6"/>
            </p:custDataLst>
          </p:nvPr>
        </p:nvCxnSpPr>
        <p:spPr>
          <a:xfrm flipV="1">
            <a:off x="1618767" y="2073275"/>
            <a:ext cx="3780000" cy="2413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953895" y="2106930"/>
            <a:ext cx="3311525" cy="1162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以色列双语右利手学生</a:t>
            </a:r>
            <a:endParaRPr lang="en-US" sz="16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母语希伯来语（右→左）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第二语言英语（左→右）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1145" y="1644650"/>
            <a:ext cx="346710" cy="346710"/>
          </a:xfrm>
          <a:prstGeom prst="rect">
            <a:avLst/>
          </a:prstGeom>
        </p:spPr>
      </p:pic>
      <p:sp>
        <p:nvSpPr>
          <p:cNvPr id="21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 研究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方法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7" name="AutoShape 11"/>
          <p:cNvSpPr/>
          <p:nvPr>
            <p:custDataLst>
              <p:tags r:id="rId11"/>
            </p:custDataLst>
          </p:nvPr>
        </p:nvSpPr>
        <p:spPr>
          <a:xfrm>
            <a:off x="1407160" y="3787140"/>
            <a:ext cx="4291330" cy="2418080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20" name="AutoShape 12"/>
          <p:cNvSpPr/>
          <p:nvPr>
            <p:custDataLst>
              <p:tags r:id="rId12"/>
            </p:custDataLst>
          </p:nvPr>
        </p:nvSpPr>
        <p:spPr>
          <a:xfrm>
            <a:off x="2059940" y="3914140"/>
            <a:ext cx="2515870" cy="387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自</a:t>
            </a:r>
            <a:r>
              <a:rPr lang="en-US" sz="20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变量</a:t>
            </a:r>
            <a:endParaRPr lang="en-US" sz="20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14"/>
          <p:cNvSpPr/>
          <p:nvPr>
            <p:custDataLst>
              <p:tags r:id="rId13"/>
            </p:custDataLst>
          </p:nvPr>
        </p:nvSpPr>
        <p:spPr>
          <a:xfrm>
            <a:off x="1617980" y="4335780"/>
            <a:ext cx="4081145" cy="18580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1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Direction</a:t>
            </a:r>
            <a:r>
              <a:rPr lang="zh-CN" altLang="en-US" sz="1800" b="1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TL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 LT</a:t>
            </a:r>
            <a:endParaRPr lang="en-US" altLang="zh-CN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TL</a:t>
            </a:r>
            <a:r>
              <a:rPr lang="zh-CN" altLang="en-US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：拇指</a:t>
            </a:r>
            <a:r>
              <a:rPr lang="en-US" altLang="zh-CN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→</a:t>
            </a:r>
            <a:r>
              <a:rPr lang="zh-CN" altLang="en-US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小指（匹配</a:t>
            </a:r>
            <a:r>
              <a:rPr lang="en-US" altLang="zh-CN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FC</a:t>
            </a:r>
            <a:r>
              <a:rPr lang="zh-CN" altLang="en-US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方向）</a:t>
            </a:r>
            <a:endParaRPr lang="zh-CN" altLang="en-US" sz="1800" b="0" i="0">
              <a:solidFill>
                <a:srgbClr val="0F111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LT</a:t>
            </a:r>
            <a:r>
              <a:rPr lang="zh-CN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小指</a:t>
            </a:r>
            <a:r>
              <a:rPr lang="en-US" altLang="zh-CN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→</a:t>
            </a:r>
            <a:r>
              <a:rPr lang="zh-CN" altLang="en-US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拇指（不匹配</a:t>
            </a:r>
            <a:r>
              <a:rPr lang="en-US" altLang="zh-CN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FC</a:t>
            </a:r>
            <a:r>
              <a:rPr lang="zh-CN" altLang="en-US" sz="1800">
                <a:solidFill>
                  <a:srgbClr val="0F111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方向）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1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Posture</a:t>
            </a:r>
            <a:r>
              <a:rPr lang="zh-CN" altLang="en-US" sz="1800" b="1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Prone (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朝下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Supine (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朝上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 b="1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Language</a:t>
            </a:r>
            <a:r>
              <a:rPr lang="zh-CN" altLang="en-US" sz="1800" b="1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English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Hebrew</a:t>
            </a:r>
            <a:endParaRPr lang="en-US" altLang="zh-CN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5"/>
          <p:cNvSpPr/>
          <p:nvPr>
            <p:custDataLst>
              <p:tags r:id="rId14"/>
            </p:custDataLst>
          </p:nvPr>
        </p:nvSpPr>
        <p:spPr>
          <a:xfrm>
            <a:off x="6409690" y="1507490"/>
            <a:ext cx="4291330" cy="2091055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29" name="AutoShape 7"/>
          <p:cNvSpPr/>
          <p:nvPr>
            <p:custDataLst>
              <p:tags r:id="rId15"/>
            </p:custDataLst>
          </p:nvPr>
        </p:nvSpPr>
        <p:spPr>
          <a:xfrm>
            <a:off x="7050405" y="1634490"/>
            <a:ext cx="2515870" cy="387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统计方法：SPSS</a:t>
            </a:r>
            <a:endParaRPr lang="en-US" sz="20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8"/>
          <p:cNvCxnSpPr/>
          <p:nvPr>
            <p:custDataLst>
              <p:tags r:id="rId16"/>
            </p:custDataLst>
          </p:nvPr>
        </p:nvCxnSpPr>
        <p:spPr>
          <a:xfrm flipV="1">
            <a:off x="6621297" y="2082165"/>
            <a:ext cx="3780000" cy="2413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AutoShape 9"/>
          <p:cNvSpPr/>
          <p:nvPr>
            <p:custDataLst>
              <p:tags r:id="rId17"/>
            </p:custDataLst>
          </p:nvPr>
        </p:nvSpPr>
        <p:spPr>
          <a:xfrm>
            <a:off x="6956425" y="2115820"/>
            <a:ext cx="3311525" cy="1162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RM-ANOVA</a:t>
            </a:r>
            <a:endParaRPr lang="en-US" sz="1800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One-way ANOVA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Scheffé 事后比较</a:t>
            </a:r>
            <a:endParaRPr 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33" name="Connector 8"/>
          <p:cNvCxnSpPr/>
          <p:nvPr>
            <p:custDataLst>
              <p:tags r:id="rId18"/>
            </p:custDataLst>
          </p:nvPr>
        </p:nvCxnSpPr>
        <p:spPr>
          <a:xfrm flipV="1">
            <a:off x="1628292" y="4312920"/>
            <a:ext cx="3780000" cy="2413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4" name="Picture 1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53835" y="3909695"/>
            <a:ext cx="401955" cy="372745"/>
          </a:xfrm>
          <a:prstGeom prst="rect">
            <a:avLst/>
          </a:prstGeom>
        </p:spPr>
      </p:pic>
      <p:sp>
        <p:nvSpPr>
          <p:cNvPr id="35" name="AutoShape 11"/>
          <p:cNvSpPr/>
          <p:nvPr>
            <p:custDataLst>
              <p:tags r:id="rId22"/>
            </p:custDataLst>
          </p:nvPr>
        </p:nvSpPr>
        <p:spPr>
          <a:xfrm>
            <a:off x="6409690" y="3775710"/>
            <a:ext cx="4291330" cy="2418080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36" name="AutoShape 12"/>
          <p:cNvSpPr/>
          <p:nvPr>
            <p:custDataLst>
              <p:tags r:id="rId23"/>
            </p:custDataLst>
          </p:nvPr>
        </p:nvSpPr>
        <p:spPr>
          <a:xfrm>
            <a:off x="7062470" y="3902710"/>
            <a:ext cx="2515870" cy="3873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因变量</a:t>
            </a:r>
            <a:endParaRPr lang="en-US" sz="20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8" name="Connector 8"/>
          <p:cNvCxnSpPr/>
          <p:nvPr>
            <p:custDataLst>
              <p:tags r:id="rId24"/>
            </p:custDataLst>
          </p:nvPr>
        </p:nvCxnSpPr>
        <p:spPr>
          <a:xfrm flipV="1">
            <a:off x="6630822" y="4301490"/>
            <a:ext cx="3780000" cy="2413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9" name="Picture 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57020" y="3879850"/>
            <a:ext cx="422275" cy="422275"/>
          </a:xfrm>
          <a:prstGeom prst="rect">
            <a:avLst/>
          </a:prstGeom>
        </p:spPr>
      </p:pic>
      <p:sp>
        <p:nvSpPr>
          <p:cNvPr id="40" name="AutoShape 9"/>
          <p:cNvSpPr/>
          <p:nvPr>
            <p:custDataLst>
              <p:tags r:id="rId27"/>
            </p:custDataLst>
          </p:nvPr>
        </p:nvSpPr>
        <p:spPr>
          <a:xfrm>
            <a:off x="6967855" y="4364990"/>
            <a:ext cx="3311525" cy="1715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反应时</a:t>
            </a:r>
            <a:endParaRPr lang="zh-CN" altLang="en-US" sz="1800" b="1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ü"/>
              <a:defRPr/>
            </a:pP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正确试次</a:t>
            </a:r>
            <a:endParaRPr lang="zh-CN" altLang="en-US" sz="1800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742950" lvl="1" indent="-285750" algn="l">
              <a:lnSpc>
                <a:spcPct val="150000"/>
              </a:lnSpc>
              <a:buFont typeface="Wingdings" panose="05000000000000000000" charset="0"/>
              <a:buChar char="ü"/>
              <a:defRPr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数据校正</a:t>
            </a:r>
            <a:endParaRPr lang="zh-CN" alt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b="1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错误率：</a:t>
            </a:r>
            <a:r>
              <a:rPr lang="en-US" altLang="zh-CN" sz="180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arcsin</a:t>
            </a:r>
            <a:r>
              <a:rPr lang="zh-CN" altLang="en-US" sz="180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转换</a:t>
            </a:r>
            <a:endParaRPr lang="zh-CN" altLang="en-US" sz="180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sz="180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09625" y="1540510"/>
          <a:ext cx="10573385" cy="444436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37385"/>
                <a:gridCol w="2734945"/>
                <a:gridCol w="2340610"/>
                <a:gridCol w="3560445"/>
              </a:tblGrid>
              <a:tr h="7727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5A8F7B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实验</a:t>
                      </a:r>
                      <a:endParaRPr lang="en-US" sz="2000" b="1" i="0" u="none" strike="noStrike">
                        <a:solidFill>
                          <a:srgbClr val="5A8F7B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F7B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5A8F7B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刺激材料</a:t>
                      </a:r>
                      <a:endParaRPr lang="en-US" sz="2000" b="1" i="0" u="none" strike="noStrike">
                        <a:solidFill>
                          <a:srgbClr val="5A8F7B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F7B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5A8F7B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被试(有效样本)</a:t>
                      </a:r>
                      <a:endParaRPr lang="en-US" sz="2000" b="1" i="0" u="none" strike="noStrike">
                        <a:solidFill>
                          <a:srgbClr val="5A8F7B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F7B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5A8F7B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核心自变量</a:t>
                      </a:r>
                      <a:endParaRPr lang="en-US" sz="2000" b="1" i="0" u="none" strike="noStrike">
                        <a:solidFill>
                          <a:srgbClr val="5A8F7B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F7B">
                        <a:alpha val="10000"/>
                      </a:srgbClr>
                    </a:solidFill>
                  </a:tcPr>
                </a:tc>
              </a:tr>
              <a:tr h="12236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实验 1</a:t>
                      </a:r>
                      <a:endParaRPr lang="en-US" sz="18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阿拉伯数字 1-5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20 (18)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2 × 2 被试内</a:t>
                      </a:r>
                      <a:endParaRPr lang="en-US" sz="1800"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</a:endParaRPr>
                    </a:p>
                    <a:p>
                      <a:pPr marL="0" indent="0" algn="ctr">
                        <a:lnSpc>
                          <a:spcPct val="108000"/>
                        </a:lnSpc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Direction × Posture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2428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实验 2</a:t>
                      </a:r>
                      <a:endParaRPr lang="en-US" sz="18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英文、希伯来文数字词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24 (21)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2 × 2 × 2 被试内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Direction × Posture × Language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236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实验 3</a:t>
                      </a:r>
                      <a:endParaRPr lang="en-US" sz="18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英文、希伯来文星期词</a:t>
                      </a:r>
                      <a:endParaRPr lang="en-US" sz="1800">
                        <a:latin typeface="Times New Roman" panose="02020603050405020304" charset="0"/>
                        <a:ea typeface="楷体" panose="02010609060101010101" charset="-122"/>
                      </a:endParaRPr>
                    </a:p>
                    <a:p>
                      <a:pPr marL="0" indent="0" algn="ctr">
                        <a:lnSpc>
                          <a:spcPct val="108000"/>
                        </a:lnSpc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（以色列工作周）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22 (20)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2 × 2 × 2 被试内</a:t>
                      </a:r>
                      <a:endParaRPr lang="en-US" sz="1800"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</a:endParaRPr>
                    </a:p>
                    <a:p>
                      <a:pPr marL="0" indent="0" algn="ctr">
                        <a:lnSpc>
                          <a:spcPct val="108000"/>
                        </a:lnSpc>
                      </a:pPr>
                      <a:r>
                        <a:rPr lang="en-US" sz="1800" b="0" i="0" u="none" strike="noStrike">
                          <a:solidFill>
                            <a:srgbClr val="525252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Direction × Posture × Language</a:t>
                      </a:r>
                      <a:endParaRPr lang="en-US" sz="1800" b="0" i="0" u="none" strike="noStrike">
                        <a:solidFill>
                          <a:srgbClr val="525252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01600" marB="101600" anchor="ctr" anchorCtr="0">
                    <a:lnL>
                      <a:noFill/>
                    </a:lnL>
                    <a:lnR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 研究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方法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 实验范式：手指映射相容性任务 + 基线任务</a:t>
            </a:r>
            <a:endParaRPr 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370320" y="1353820"/>
            <a:ext cx="4589145" cy="5351780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4" name="AutoShape 4"/>
          <p:cNvSpPr/>
          <p:nvPr/>
        </p:nvSpPr>
        <p:spPr>
          <a:xfrm rot="5399999">
            <a:off x="8637381" y="-913130"/>
            <a:ext cx="63500" cy="45974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78732" y="1501140"/>
            <a:ext cx="346540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基线任务</a:t>
            </a:r>
            <a:endParaRPr lang="en-US" sz="24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0840">
            <a:off x="6651397" y="1982470"/>
            <a:ext cx="402733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51410" y="2039620"/>
            <a:ext cx="4121022" cy="844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单独测试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右手</a:t>
            </a:r>
            <a:r>
              <a:rPr 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五指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在</a:t>
            </a:r>
            <a:r>
              <a:rPr 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掌心向上/向下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时</a:t>
            </a:r>
            <a:r>
              <a:rPr 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的基础反应速度，建立基准参照，用于后续校正RT数据，消除手指灵活性与姿势的先天速度差异。</a:t>
            </a:r>
            <a:endParaRPr lang="en-US" sz="1600" b="0" i="0" u="none" strike="noStrike">
              <a:solidFill>
                <a:srgbClr val="525252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143000" y="1353820"/>
            <a:ext cx="4624070" cy="5351780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866101" y="1501140"/>
            <a:ext cx="3491748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 手指映射相容性任务</a:t>
            </a:r>
            <a:endParaRPr lang="en-US" sz="24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-10758">
            <a:off x="1425831" y="1982470"/>
            <a:ext cx="40579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425845" y="2039620"/>
            <a:ext cx="4152349" cy="844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屏幕呈现数字或星期词序列刺激，被试按既定规则将</a:t>
            </a:r>
            <a:r>
              <a:rPr lang="zh-CN" alt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刺激</a:t>
            </a:r>
            <a:r>
              <a:rPr lang="en-US" sz="1600" b="0" i="0" u="none" strike="noStrike">
                <a:solidFill>
                  <a:srgbClr val="525252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映射至右手五指按键，核心指标为经过基线校正后的反应时（RT）。</a:t>
            </a:r>
            <a:endParaRPr lang="en-US" sz="1600" b="0" i="0" u="none" strike="noStrike">
              <a:solidFill>
                <a:srgbClr val="525252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 l="221" r="50500"/>
          <a:stretch>
            <a:fillRect/>
          </a:stretch>
        </p:blipFill>
        <p:spPr>
          <a:xfrm>
            <a:off x="1756145" y="2930435"/>
            <a:ext cx="3491748" cy="3599263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rcRect l="49499"/>
          <a:stretch>
            <a:fillRect/>
          </a:stretch>
        </p:blipFill>
        <p:spPr>
          <a:xfrm>
            <a:off x="6865731" y="2930435"/>
            <a:ext cx="3578347" cy="3599263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16" name="AutoShape 16"/>
          <p:cNvSpPr/>
          <p:nvPr/>
        </p:nvSpPr>
        <p:spPr>
          <a:xfrm rot="5400000">
            <a:off x="3435080" y="-913130"/>
            <a:ext cx="63500" cy="45974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17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0" y="1460500"/>
          <a:ext cx="10668000" cy="41452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62835"/>
                <a:gridCol w="4347845"/>
                <a:gridCol w="395732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实验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F7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000" b="1" i="0" u="none" strike="noStrik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主要结果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F7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核心结论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F7B">
                        <a:alpha val="100000"/>
                      </a:srgbClr>
                    </a:solidFill>
                  </a:tcPr>
                </a:tc>
              </a:tr>
              <a:tr h="108839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实验1</a:t>
                      </a:r>
                      <a:endParaRPr lang="en-US" sz="16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基础数字映射验证</a:t>
                      </a:r>
                      <a:endParaRPr lang="en-US" sz="16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Direction主效应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显著, </a:t>
                      </a:r>
                      <a:r>
                        <a:rPr lang="en-US" sz="1600" b="0" i="1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F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(1,17) = 32.65, </a:t>
                      </a:r>
                      <a:r>
                        <a:rPr lang="en-US" sz="1600" b="0" i="1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p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 &lt;.001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Posture</a:t>
                      </a:r>
                      <a:r>
                        <a:rPr lang="zh-CN" alt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主效应和两因素交互不显著</a:t>
                      </a:r>
                      <a:endParaRPr lang="zh-CN" alt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TL方向的反应显著快于LT方向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数字的空间映射遵循 FC 的方向规律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>
                      <a:noFill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135128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实验2</a:t>
                      </a:r>
                      <a:endParaRPr lang="en-US" sz="16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映射的跨语言稳定性</a:t>
                      </a:r>
                      <a:endParaRPr lang="en-US" sz="16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Direction主效应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与</a:t>
                      </a: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Language主效应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均显著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0" indent="0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（</a:t>
                      </a:r>
                      <a:r>
                        <a:rPr lang="en-US" sz="1600" b="0" i="1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p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均&lt; .001）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Direction与Posture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存在显著</a:t>
                      </a: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交互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（</a:t>
                      </a:r>
                      <a:r>
                        <a:rPr lang="en-US" sz="1600" b="0" i="1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p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&lt;.01）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FC 优势跨语言稳定存在</a:t>
                      </a:r>
                      <a:r>
                        <a:rPr lang="zh-CN" alt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，且母语优势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FC 优势效应受身体姿势的调节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>
                      <a:noFill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11976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实验3</a:t>
                      </a:r>
                      <a:endParaRPr lang="en-US" sz="16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非数字序列映射</a:t>
                      </a:r>
                      <a:endParaRPr lang="en-US" sz="1600" b="1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三因素交互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显著，</a:t>
                      </a:r>
                      <a:r>
                        <a:rPr lang="en-US" sz="1600" b="0" i="1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F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(1,19) = 16.69, </a:t>
                      </a:r>
                      <a:r>
                        <a:rPr lang="en-US" sz="1600" b="0" i="1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p</a:t>
                      </a: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 &lt; .002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FC 与 RD 同时相容时，</a:t>
                      </a:r>
                      <a:r>
                        <a:rPr lang="zh-CN" altLang="en-US" sz="1600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被试</a:t>
                      </a:r>
                      <a:r>
                        <a:rPr lang="en-US" sz="1600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反应最快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FC 与 RD 的相容性共同影响反应时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  <a:p>
                      <a:pPr marL="140335" indent="-140335" algn="l" eaLnBrk="1" fontAlgn="auto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1600" b="0" i="0" u="none" strike="noStrike">
                          <a:solidFill>
                            <a:srgbClr val="555555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体现了双重编码的促进作用</a:t>
                      </a:r>
                      <a:endParaRPr lang="en-US" sz="1600" b="0" i="0" u="none" strike="noStrike">
                        <a:solidFill>
                          <a:srgbClr val="555555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0" marT="127000" marB="127000" anchor="ctr" anchorCtr="0">
                    <a:lnL>
                      <a:noFill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838034" y="5774740"/>
            <a:ext cx="105918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✨️</a:t>
            </a:r>
            <a:r>
              <a:rPr lang="en-US" sz="1800" b="1" i="0" u="none" strike="noStrike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结论：</a:t>
            </a:r>
            <a:r>
              <a:rPr lang="en-US" sz="1800" b="1" i="0" u="none" strike="noStrike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具身认知——数字的空间表征主要依赖手指计数；非数字序列同时依赖手指计数+阅读方向。</a:t>
            </a:r>
            <a:endParaRPr lang="en-US" sz="1800" b="1" i="0" u="none" strike="noStrike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01 实验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结果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9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38811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F5446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数据来源</a:t>
            </a:r>
            <a:endParaRPr lang="en-US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 algn="ctr">
              <a:lnSpc>
                <a:spcPct val="100000"/>
              </a:lnSpc>
            </a:pPr>
            <a:endParaRPr sz="18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 algn="ctr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OSF（</a:t>
            </a:r>
            <a:r>
              <a:rPr 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  <a:hlinkClick r:id="rId1" tooltip="https://osf.io/8btme/"/>
              </a:rPr>
              <a:t>https://osf.io/8btme/</a:t>
            </a:r>
            <a:r>
              <a:rPr 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）</a:t>
            </a:r>
            <a:endParaRPr lang="en-US" sz="1800" b="0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318000" y="138811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2F5446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样本量</a:t>
            </a:r>
            <a:endParaRPr lang="en-US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 algn="ctr">
              <a:lnSpc>
                <a:spcPct val="150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与原</a:t>
            </a:r>
            <a:r>
              <a:rPr lang="zh-CN" alt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文献</a:t>
            </a:r>
            <a:r>
              <a:rPr 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一致（N=18/21/20）</a:t>
            </a:r>
            <a:endParaRPr lang="en-US" sz="1800" b="0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874000" y="1388110"/>
            <a:ext cx="3302000" cy="1905000"/>
          </a:xfrm>
          <a:prstGeom prst="roundRect">
            <a:avLst>
              <a:gd name="adj" fmla="val 106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/>
          <a:lstStyle/>
          <a:p>
            <a:pPr marL="0" indent="0" algn="ctr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2F5446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复现工具</a:t>
            </a:r>
            <a:endParaRPr lang="en-US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• R 4.6.0（原文使用SPSS）</a:t>
            </a:r>
            <a:endParaRPr lang="en-US" sz="1800" b="0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• 包：tidyverse, afex, emmeans, lme4, ggplot2</a:t>
            </a:r>
            <a:endParaRPr lang="zh-CN" altLang="en-US" sz="1800" b="0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62000" y="3619247"/>
          <a:ext cx="10668000" cy="22656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080000"/>
                <a:gridCol w="5588000"/>
              </a:tblGrid>
              <a:tr h="46672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000" b="1" i="0" u="none" strike="noStrike">
                          <a:solidFill>
                            <a:srgbClr val="2F5446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复现</a:t>
                      </a:r>
                      <a:r>
                        <a:rPr lang="en-US" sz="2000" b="1" i="0" u="none" strike="noStrike">
                          <a:solidFill>
                            <a:srgbClr val="2F5446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步骤</a:t>
                      </a:r>
                      <a:endParaRPr lang="en-US" sz="2000" b="1" i="0" u="none" strike="noStrike">
                        <a:solidFill>
                          <a:srgbClr val="2F5446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2F5446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目的</a:t>
                      </a:r>
                      <a:endParaRPr lang="en-US" sz="2000" b="1" i="0" u="none" strike="noStrike">
                        <a:solidFill>
                          <a:srgbClr val="2F5446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E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① 原始数据预处理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筛选正确试次</a:t>
                      </a:r>
                      <a:r>
                        <a:rPr lang="en-US" sz="1800" b="1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；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剔除M±2SD极端值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② 计算校正RT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手指校正(finger 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△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) + 姿势校正</a:t>
                      </a:r>
                      <a:r>
                        <a:rPr lang="en-US" sz="1800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(posture </a:t>
                      </a:r>
                      <a:r>
                        <a:rPr lang="zh-CN" altLang="en-US" sz="1800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△</a:t>
                      </a:r>
                      <a:r>
                        <a:rPr lang="en-US" sz="1800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) 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③ RM-ANOVA（原方法）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检验原文献结果是否可复现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Times New Roman" panose="02020603050405020304" charset="0"/>
                          <a:sym typeface="Noto Sans SC" panose="020B0200000000000000" charset="-122"/>
                        </a:rPr>
                        <a:t>④ LMM（创新方法）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Times New Roman" panose="02020603050405020304" charset="0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楷体" panose="02010609060101010101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验证结果对不同分析方法的稳健性</a:t>
                      </a:r>
                      <a:endParaRPr lang="en-US" sz="1800" b="0" i="0" u="none" strike="noStrike">
                        <a:solidFill>
                          <a:srgbClr val="333333"/>
                        </a:solidFill>
                        <a:latin typeface="Times New Roman" panose="02020603050405020304" charset="0"/>
                        <a:ea typeface="楷体" panose="02010609060101010101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复现方法概述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/>
          <p:nvPr/>
        </p:nvGraphicFramePr>
        <p:xfrm>
          <a:off x="1221105" y="1586865"/>
          <a:ext cx="9749790" cy="3840480"/>
        </p:xfrm>
        <a:graphic>
          <a:graphicData uri="http://schemas.openxmlformats.org/drawingml/2006/table">
            <a:tbl>
              <a:tblPr/>
              <a:tblGrid>
                <a:gridCol w="987425"/>
                <a:gridCol w="2432050"/>
                <a:gridCol w="1788795"/>
                <a:gridCol w="1212215"/>
                <a:gridCol w="1330325"/>
                <a:gridCol w="1998980"/>
              </a:tblGrid>
              <a:tr h="5486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方案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分组方式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剔除时机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MAE (ms)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RMSE (ms)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最大绝对差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(ms)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group(Subject)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correct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±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SD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66.06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94.60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336.93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group(Subject)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±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SD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correct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66.00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94.26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336.93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group(Subj,Post,Finger)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correct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±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SD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80.53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125.51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914.76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group(Subj,Post,Finger)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±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SD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correct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79.60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124.35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914.76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group(overall)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correct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±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SD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71.06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102.06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408.04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group(overall)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±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SD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→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correct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70.32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100.78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408.04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87195" y="5425440"/>
            <a:ext cx="71907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MAE(Mean Absolute Error)</a:t>
            </a:r>
            <a:r>
              <a:rPr lang="zh-CN" altLang="en-US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：各方案校正</a:t>
            </a:r>
            <a:r>
              <a:rPr lang="en-US" altLang="zh-CN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RT</a:t>
            </a:r>
            <a:r>
              <a:rPr lang="zh-CN" altLang="en-US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与作者校正</a:t>
            </a:r>
            <a:r>
              <a:rPr lang="en-US" altLang="zh-CN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RT</a:t>
            </a:r>
            <a:r>
              <a:rPr lang="zh-CN" altLang="en-US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之间的平均绝对差异</a:t>
            </a:r>
            <a:endParaRPr lang="zh-CN" altLang="en-US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RMSE(Root Mean Square Error)</a:t>
            </a:r>
            <a:r>
              <a:rPr lang="zh-CN" altLang="en-US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：平方差异平均后开方</a:t>
            </a:r>
            <a:endParaRPr lang="zh-CN" altLang="en-US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</a:t>
            </a:r>
            <a:r>
              <a:rPr lang="en-US" sz="32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原始数据预处理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</a:t>
            </a:r>
            <a:r>
              <a:rPr lang="en-US" sz="32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数据预处理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568825" y="-635"/>
            <a:ext cx="7623175" cy="6858635"/>
            <a:chOff x="0" y="0"/>
            <a:chExt cx="12720" cy="1213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2720" cy="363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rcRect r="313"/>
            <a:stretch>
              <a:fillRect/>
            </a:stretch>
          </p:blipFill>
          <p:spPr>
            <a:xfrm>
              <a:off x="0" y="3630"/>
              <a:ext cx="12720" cy="577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r="313"/>
            <a:stretch>
              <a:fillRect/>
            </a:stretch>
          </p:blipFill>
          <p:spPr>
            <a:xfrm>
              <a:off x="0" y="9400"/>
              <a:ext cx="12720" cy="2730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1151890" y="1691640"/>
            <a:ext cx="310705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b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工具函数：</a:t>
            </a:r>
            <a:endParaRPr lang="zh-CN" altLang="en-US" sz="2400" b="1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剔除极端值</a:t>
            </a:r>
            <a:endParaRPr lang="zh-CN" altLang="en-US" sz="24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计算</a:t>
            </a:r>
            <a:r>
              <a:rPr lang="en-US" altLang="zh-CN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finger </a:t>
            </a:r>
            <a:r>
              <a:rPr lang="zh-CN" altLang="en-US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△</a:t>
            </a:r>
            <a:endParaRPr lang="zh-CN" altLang="en-US" sz="24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计算</a:t>
            </a:r>
            <a:r>
              <a:rPr lang="en-US" altLang="zh-CN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posture </a:t>
            </a:r>
            <a:r>
              <a:rPr lang="zh-CN" altLang="en-US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△</a:t>
            </a:r>
            <a:endParaRPr lang="zh-CN" altLang="en-US" sz="24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校正</a:t>
            </a:r>
            <a:r>
              <a:rPr lang="en-US" altLang="zh-CN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RT</a:t>
            </a:r>
            <a:endParaRPr lang="en-US" altLang="zh-CN" sz="24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329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</a:t>
            </a:r>
            <a:r>
              <a:rPr lang="zh-CN" altLang="en-US" sz="32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错误率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935" y="3594735"/>
            <a:ext cx="5419725" cy="25031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885" y="2679700"/>
            <a:ext cx="5977255" cy="39808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230" y="11430"/>
            <a:ext cx="6530340" cy="253873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958850" y="1777365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描述统计</a:t>
            </a:r>
            <a:r>
              <a:rPr lang="zh-CN" altLang="en-US" sz="2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：完全复现</a:t>
            </a:r>
            <a:endParaRPr lang="zh-CN" altLang="en-US" sz="2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RM-ANOVA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：部分复现</a:t>
            </a:r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endParaRPr lang="zh-CN" altLang="en-US" sz="2000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实验1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25" name="表格 24"/>
          <p:cNvGraphicFramePr/>
          <p:nvPr/>
        </p:nvGraphicFramePr>
        <p:xfrm>
          <a:off x="828993" y="2463165"/>
          <a:ext cx="10534015" cy="3905250"/>
        </p:xfrm>
        <a:graphic>
          <a:graphicData uri="http://schemas.openxmlformats.org/drawingml/2006/table">
            <a:tbl>
              <a:tblPr/>
              <a:tblGrid>
                <a:gridCol w="923290"/>
                <a:gridCol w="920750"/>
                <a:gridCol w="974725"/>
                <a:gridCol w="953135"/>
                <a:gridCol w="974725"/>
                <a:gridCol w="970280"/>
                <a:gridCol w="1020445"/>
                <a:gridCol w="1348105"/>
                <a:gridCol w="1100455"/>
                <a:gridCol w="1348105"/>
              </a:tblGrid>
              <a:tr h="390525">
                <a:tc gridSpan="10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基线任务描述性统计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525">
                <a:tc rowSpan="2" gridSpan="2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原文献结果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M_δ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zh-CN" alt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SD_δ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zh-CN" alt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0525">
                <a:tc vMerge="1" gridSpan="2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Posture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Prone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414.3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51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412.07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52.09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0.54%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2.09%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Supine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443.4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51.7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438.54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55.64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1.11%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7.08%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Finger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Thumb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430.67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47.3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407.11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40.14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5.79%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17.84%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Index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414.3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51.8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398.84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3.88%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17.73%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Middle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426.6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55.6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436.16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53.8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2.19%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3.35%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Ring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448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468.06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58.53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4.29%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2.61%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Little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424.5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50.9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416.34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51.57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1.96%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1.30%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396365" y="1383665"/>
            <a:ext cx="85026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均值层面</a:t>
            </a:r>
            <a:r>
              <a:rPr lang="zh-CN" alt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sz="20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偏差普遍较小，控制在</a:t>
            </a:r>
            <a:r>
              <a:rPr lang="en-US" sz="2000" b="1">
                <a:solidFill>
                  <a:srgbClr val="5A8F7B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6%</a:t>
            </a:r>
            <a:r>
              <a:rPr lang="en-US" sz="20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以内。</a:t>
            </a:r>
            <a:endParaRPr lang="en-US" sz="2000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离散程度</a:t>
            </a:r>
            <a:r>
              <a:rPr lang="zh-CN" alt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zh-CN" altLang="en-US" sz="20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偏差较大，</a:t>
            </a:r>
            <a:r>
              <a:rPr lang="en-US" sz="20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样本数据的波动特征与原文存在较大差异。</a:t>
            </a:r>
            <a:endParaRPr lang="en-US" altLang="en-US" sz="2000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实验1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822325" y="1457325"/>
          <a:ext cx="10547350" cy="4866640"/>
        </p:xfrm>
        <a:graphic>
          <a:graphicData uri="http://schemas.openxmlformats.org/drawingml/2006/table">
            <a:tbl>
              <a:tblPr/>
              <a:tblGrid>
                <a:gridCol w="1194435"/>
                <a:gridCol w="952500"/>
                <a:gridCol w="943610"/>
                <a:gridCol w="945515"/>
                <a:gridCol w="943610"/>
                <a:gridCol w="945515"/>
                <a:gridCol w="1023620"/>
                <a:gridCol w="1323340"/>
                <a:gridCol w="1023620"/>
                <a:gridCol w="1251585"/>
              </a:tblGrid>
              <a:tr h="304165">
                <a:tc gridSpan="10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手指映射任务描述性统计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4165">
                <a:tc rowSpan="2" gridSpan="2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原研究结果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M_δ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SD_δ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 vMerge="1" gridSpan="2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Direction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TL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508.5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529.61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109.67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3.99%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13.98%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LT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563.2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133.7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562.13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126.01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0.19%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6.10%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Posture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Prone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557.24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111.78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Supine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534.49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125.24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Mapping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542.70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96.26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571.79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124.23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516.51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120.74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552.47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127.73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Digit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440.34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81.19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524.73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100.57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16.08%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19.27%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548.16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93.36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538.15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110.23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1.86%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15.30%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576.85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79.95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543.96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115.13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6.05%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30.56%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584.45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104.20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576.33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144.05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1.41%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27.66%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0416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529.27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77.73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546.18 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118.18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3.10%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34.23%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实验1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图片 2" descr="Exp1_main_effe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1730" y="845820"/>
            <a:ext cx="3620135" cy="28968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65" y="3856990"/>
            <a:ext cx="3581400" cy="25901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" y="1552575"/>
            <a:ext cx="6511925" cy="37534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实验1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图片 6" descr="Exp1_stimulu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1645"/>
            <a:ext cx="5452745" cy="19088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480" y="4005580"/>
            <a:ext cx="5549900" cy="1809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" y="1670050"/>
            <a:ext cx="5843905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实验1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推断统计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1442085" y="1808480"/>
          <a:ext cx="9307830" cy="4473575"/>
        </p:xfrm>
        <a:graphic>
          <a:graphicData uri="http://schemas.openxmlformats.org/drawingml/2006/table">
            <a:tbl>
              <a:tblPr/>
              <a:tblGrid>
                <a:gridCol w="1736725"/>
                <a:gridCol w="1365885"/>
                <a:gridCol w="1551305"/>
                <a:gridCol w="1551305"/>
                <a:gridCol w="1551305"/>
                <a:gridCol w="1551305"/>
              </a:tblGrid>
              <a:tr h="344170">
                <a:tc gridSpan="6">
                  <a:txBody>
                    <a:bodyPr/>
                    <a:p>
                      <a:pPr marL="0" indent="0" algn="ctr" defTabSz="26670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>
                          <a:latin typeface="Times New Roman" panose="02020603050405020304"/>
                          <a:ea typeface="黑体" panose="02010609060101010101" charset="-122"/>
                          <a:sym typeface="+mn-ea"/>
                        </a:rPr>
                        <a:t>基线任务推断性</a:t>
                      </a:r>
                      <a:r>
                        <a:rPr lang="zh-CN" altLang="en-US" sz="1600" b="1"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统计</a:t>
                      </a:r>
                      <a:r>
                        <a:rPr lang="zh-CN" altLang="en-US" sz="1600" b="1">
                          <a:latin typeface="Times New Roman" panose="02020603050405020304"/>
                          <a:ea typeface="黑体" panose="02010609060101010101" charset="-122"/>
                          <a:sym typeface="+mn-ea"/>
                        </a:rPr>
                        <a:t>结果的比较（</a:t>
                      </a:r>
                      <a:r>
                        <a:rPr lang="en-US" altLang="zh-CN" sz="1600" b="1"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2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r>
                        <a:rPr lang="en-US" altLang="zh-CN" sz="1600" b="1"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5 RM-ANOVA : Posture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  <a:r>
                        <a:rPr lang="en-US" altLang="zh-CN" sz="1600" b="1"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Finger</a:t>
                      </a:r>
                      <a:r>
                        <a:rPr lang="zh-CN" altLang="en-US" sz="1600" b="1">
                          <a:latin typeface="Times New Roman" panose="02020603050405020304"/>
                          <a:ea typeface="黑体" panose="02010609060101010101" charset="-122"/>
                          <a:sym typeface="+mn-ea"/>
                        </a:rPr>
                        <a:t>）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df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η²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85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Posture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15.48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1, 17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&lt; .002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.49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14.25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1, 17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.002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.456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 vMerge="1"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评级</a:t>
                      </a:r>
                      <a:endParaRPr 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推论一致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Finger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14.17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4, 68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.47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33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20.93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2.60, 44.24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.552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 vMerge="1"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评级</a:t>
                      </a:r>
                      <a:endParaRPr 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推论一致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Posture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×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Finger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no signiﬁcant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3385">
                <a:tc vMerge="1"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3.09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3.12, 53.09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.033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.154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2750">
                <a:tc vMerge="1">
                  <a:tcPr>
                    <a:lnL>
                      <a:noFill/>
                    </a:lnL>
                    <a:lnR>
                      <a:noFill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评级</a:t>
                      </a:r>
                      <a:endParaRPr 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推论不一致</a:t>
                      </a:r>
                      <a:endParaRPr 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640" y="10160"/>
            <a:ext cx="6172200" cy="17208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实验1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推断统计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26" name="表格 25"/>
          <p:cNvGraphicFramePr/>
          <p:nvPr>
            <p:custDataLst>
              <p:tags r:id="rId1"/>
            </p:custDataLst>
          </p:nvPr>
        </p:nvGraphicFramePr>
        <p:xfrm>
          <a:off x="1442085" y="2536825"/>
          <a:ext cx="9307830" cy="3962400"/>
        </p:xfrm>
        <a:graphic>
          <a:graphicData uri="http://schemas.openxmlformats.org/drawingml/2006/table">
            <a:tbl>
              <a:tblPr/>
              <a:tblGrid>
                <a:gridCol w="1736725"/>
                <a:gridCol w="1365885"/>
                <a:gridCol w="1551305"/>
                <a:gridCol w="1551305"/>
                <a:gridCol w="1551305"/>
                <a:gridCol w="1551305"/>
              </a:tblGrid>
              <a:tr h="304800">
                <a:tc gridSpan="6">
                  <a:txBody>
                    <a:bodyPr/>
                    <a:p>
                      <a:pPr marL="0" indent="0" algn="ctr" defTabSz="266700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手指映射任务推断性统计结果的比较（2×2 </a:t>
                      </a: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RM-ANOVA: Direction×Posture）</a:t>
                      </a:r>
                      <a:endParaRPr lang="en-US" altLang="zh-CN" sz="16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df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η²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Direction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32.65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.66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12.25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.003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.419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评级</a:t>
                      </a:r>
                      <a:endParaRPr 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推论一致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Posture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no signiﬁcant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5.91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(1,17)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.026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.258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评级</a:t>
                      </a:r>
                      <a:endParaRPr 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推论不一致</a:t>
                      </a:r>
                      <a:endParaRPr lang="zh-CN" sz="160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row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Direction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×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Posture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no signiﬁcant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0.21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.651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.012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评级</a:t>
                      </a:r>
                      <a:endParaRPr 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推论一致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92213" y="1518920"/>
            <a:ext cx="9807575" cy="912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结论一致：</a:t>
            </a:r>
            <a:r>
              <a:rPr 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 Direction 主效应</a:t>
            </a:r>
            <a:r>
              <a:rPr lang="zh-CN" alt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复现成功，</a:t>
            </a:r>
            <a:r>
              <a:rPr 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与原文一致，即TL方向的反应速度显著更快。</a:t>
            </a:r>
            <a:endParaRPr lang="en-US" sz="2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rgbClr val="B4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复现差异</a:t>
            </a:r>
            <a:r>
              <a:rPr lang="en-US" sz="2000" b="1">
                <a:solidFill>
                  <a:srgbClr val="B4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效应量</a:t>
            </a:r>
            <a:r>
              <a:rPr lang="zh-CN" alt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减小</a:t>
            </a:r>
            <a:r>
              <a:rPr 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；原文不显著的 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  <a:sym typeface="+mn-ea"/>
              </a:rPr>
              <a:t>Posture </a:t>
            </a:r>
            <a:r>
              <a:rPr 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主效应在复现中显著</a:t>
            </a:r>
            <a:r>
              <a:rPr lang="zh-CN" altLang="en-US" sz="2000">
                <a:solidFill>
                  <a:srgbClr val="50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。</a:t>
            </a:r>
            <a:endParaRPr lang="zh-CN" altLang="en-US" sz="2000">
              <a:solidFill>
                <a:srgbClr val="505050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135" y="163830"/>
            <a:ext cx="5067300" cy="1111250"/>
          </a:xfrm>
          <a:prstGeom prst="rect">
            <a:avLst/>
          </a:prstGeom>
        </p:spPr>
      </p:pic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实验1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推断统计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441450" y="1459230"/>
          <a:ext cx="9309100" cy="1828800"/>
        </p:xfrm>
        <a:graphic>
          <a:graphicData uri="http://schemas.openxmlformats.org/drawingml/2006/table">
            <a:tbl>
              <a:tblPr/>
              <a:tblGrid>
                <a:gridCol w="1845945"/>
                <a:gridCol w="1858645"/>
                <a:gridCol w="1862455"/>
                <a:gridCol w="1884680"/>
                <a:gridCol w="1857375"/>
              </a:tblGrid>
              <a:tr h="365760">
                <a:tc gridSpan="5"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6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                                                           One-way-ANOVA: Stimulus</a:t>
                      </a:r>
                      <a:endParaRPr lang="en-US" altLang="zh-CN" sz="1600" b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df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η²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26.23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4, 68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0.61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3.53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2.96, 50.25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.022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.172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评级</a:t>
                      </a:r>
                      <a:endParaRPr 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推论一致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863283" y="3417570"/>
          <a:ext cx="10465435" cy="0"/>
        </p:xfrm>
        <a:graphic>
          <a:graphicData uri="http://schemas.openxmlformats.org/drawingml/2006/table">
            <a:tbl>
              <a:tblPr/>
              <a:tblGrid>
                <a:gridCol w="1357630"/>
                <a:gridCol w="1407795"/>
                <a:gridCol w="1070610"/>
                <a:gridCol w="682625"/>
                <a:gridCol w="1175385"/>
                <a:gridCol w="1228090"/>
                <a:gridCol w="1927860"/>
                <a:gridCol w="1615440"/>
              </a:tblGrid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contrast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estimate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SE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df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t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p</a:t>
                      </a:r>
                      <a:endParaRPr lang="en-US" altLang="zh-CN" sz="1600" i="1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原文献</a:t>
                      </a:r>
                      <a:r>
                        <a:rPr lang="en-US" altLang="zh-CN" sz="1600" i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值</a:t>
                      </a:r>
                      <a:endParaRPr 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结论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1-2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-13.42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12.50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-1.071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0.882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不一致</a:t>
                      </a:r>
                      <a:endParaRPr 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1-3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-19.24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15.40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-1.253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0.811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不一致</a:t>
                      </a:r>
                      <a:endParaRPr 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1-4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-51.60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11.80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-4.368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0.009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1-5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-21.45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12.10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-1.780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0.546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不一致</a:t>
                      </a:r>
                      <a:endParaRPr 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2-3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-5.81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15.10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-0.385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0.997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2-4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-38.18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9.25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-4.129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0.014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2-5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-8.03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13.50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-0.597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0.98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3-4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-32.37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15.60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-2.075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0.39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3-5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-2.22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19.30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-0.115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1.0000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一致</a:t>
                      </a:r>
                      <a:endParaRPr 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4-5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30.15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15.80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1.903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0.48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endParaRPr lang="en-US" alt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&lt; .05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Times New Roman" panose="02020603050405020304"/>
                          <a:ea typeface="宋体" panose="02010600030101010101" pitchFamily="2" charset="-122"/>
                        </a:rPr>
                        <a:t>不一致</a:t>
                      </a:r>
                      <a:endParaRPr lang="zh-CN" sz="160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330" y="20320"/>
            <a:ext cx="4959350" cy="1752600"/>
          </a:xfrm>
          <a:prstGeom prst="rect">
            <a:avLst/>
          </a:prstGeom>
        </p:spPr>
      </p:pic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实验2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44220" y="1455420"/>
          <a:ext cx="10686415" cy="5120640"/>
        </p:xfrm>
        <a:graphic>
          <a:graphicData uri="http://schemas.openxmlformats.org/drawingml/2006/table">
            <a:tbl>
              <a:tblPr/>
              <a:tblGrid>
                <a:gridCol w="1950720"/>
                <a:gridCol w="915670"/>
                <a:gridCol w="901065"/>
                <a:gridCol w="901065"/>
                <a:gridCol w="901065"/>
                <a:gridCol w="901065"/>
                <a:gridCol w="1053941"/>
                <a:gridCol w="1053941"/>
                <a:gridCol w="1053941"/>
                <a:gridCol w="1053941"/>
              </a:tblGrid>
              <a:tr h="199390">
                <a:tc rowSpan="2" gridSpan="2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</a:t>
                      </a:r>
                      <a:r>
                        <a:rPr 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文献</a:t>
                      </a: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M_δ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</a:t>
                      </a: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SD_δ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</a:t>
                      </a: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 gridSpan="2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Direction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TL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558.6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82.4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591.74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114.84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5.60%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28.25%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LT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597.9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91.9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620.39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114.26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3.63%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19.57%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Language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English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605.7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84.8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610.78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115.22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0.83%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26.40%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Hebrew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550.8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92.2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601.35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115.48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8.41%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20.16%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Mapping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584.68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98.10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621.85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105.51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608.10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127.65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628.49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123.67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579.84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102.78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623.38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110.42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594.33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127.22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H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607.84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117.22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rowSpan="5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umber words</a:t>
                      </a: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- </a:t>
                      </a: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English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One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535.34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64.59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564.21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78.70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5.12%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17.93%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Two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610.19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66.52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601.73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75.25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1.41%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11.60%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Three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654.11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96.85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636.45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102.08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2.77%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5.12%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Four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635.46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82.28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629.90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88.40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0.88%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6.92%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Five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593.2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76.22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621.61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90.35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4.57%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15.64%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rowSpan="5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umber words</a:t>
                      </a: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- </a:t>
                      </a: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Hebrew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One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503.49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66.95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567.57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72.75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11.29%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7.97%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Two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585.59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91.96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609.83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77.74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3.97%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18.29%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Three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584.62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104.29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606.80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111.39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3.66%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6.37%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Four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574.67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86.68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626.75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97.11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8.31%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10.74%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19939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Five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505.66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64.4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595.78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77.18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15.13%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16.56%</a:t>
                      </a:r>
                      <a:endParaRPr lang="en-US" altLang="zh-CN" sz="14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4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实验2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0995" y="4418330"/>
            <a:ext cx="4976495" cy="2023745"/>
          </a:xfrm>
          <a:prstGeom prst="rect">
            <a:avLst/>
          </a:prstGeom>
        </p:spPr>
      </p:pic>
      <p:pic>
        <p:nvPicPr>
          <p:cNvPr id="4" name="图片 3" descr="Exp2_main_eff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995" y="1569720"/>
            <a:ext cx="4739005" cy="27082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5" y="1569720"/>
            <a:ext cx="6235700" cy="4489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实验2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 descr="Exp2_stimulu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1282700"/>
            <a:ext cx="4831715" cy="2657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35" y="3989705"/>
            <a:ext cx="4224655" cy="274574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990590" y="438785"/>
            <a:ext cx="5639435" cy="6121400"/>
            <a:chOff x="0" y="-2634"/>
            <a:chExt cx="9731" cy="11998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2634"/>
              <a:ext cx="9730" cy="433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674"/>
              <a:ext cx="9730" cy="696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8614"/>
              <a:ext cx="9731" cy="7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实验2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推断统计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2775" y="1487805"/>
            <a:ext cx="5882005" cy="49174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87805"/>
            <a:ext cx="5003165" cy="11614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3565" y="3498850"/>
            <a:ext cx="500380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映射任务：</a:t>
            </a:r>
            <a:endParaRPr lang="en-US" sz="1800" b="1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Direction主效应</a:t>
            </a:r>
            <a:r>
              <a:rPr lang="zh-CN" alt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和</a:t>
            </a:r>
            <a:r>
              <a:rPr lang="en-US" sz="18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Direction×Posture交互作用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</a:t>
            </a:r>
            <a:r>
              <a:rPr lang="zh-CN" alt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成功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，</a:t>
            </a:r>
            <a:r>
              <a:rPr lang="zh-CN" alt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效应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显著。</a:t>
            </a:r>
            <a:endParaRPr lang="en-US" sz="1800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rgbClr val="B4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差异</a:t>
            </a:r>
            <a:r>
              <a:rPr lang="zh-CN" altLang="en-US" sz="2000" b="1">
                <a:solidFill>
                  <a:srgbClr val="B4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Language主效应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复现结果</a:t>
            </a:r>
            <a:r>
              <a:rPr lang="zh-CN" alt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不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显著</a:t>
            </a:r>
            <a:r>
              <a:rPr lang="zh-CN" alt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但接近边缘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 (</a:t>
            </a:r>
            <a:r>
              <a:rPr lang="en-US" sz="1800" i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p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=0.084 vs. 原文</a:t>
            </a:r>
            <a:r>
              <a:rPr lang="zh-CN" alt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sz="1800" i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p</a:t>
            </a:r>
            <a:r>
              <a:rPr 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&lt;0.001, η²p=0.83)</a:t>
            </a:r>
            <a:r>
              <a:rPr lang="zh-CN" altLang="en-US" sz="1800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。</a:t>
            </a:r>
            <a:endParaRPr lang="zh-CN" altLang="en-US" sz="1800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65" y="2680335"/>
            <a:ext cx="4038600" cy="635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540" y="233045"/>
            <a:ext cx="5835650" cy="10731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999740" y="1966595"/>
            <a:ext cx="2515870" cy="23177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99105" y="2449830"/>
            <a:ext cx="2515870" cy="1701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005060" y="3228340"/>
            <a:ext cx="515620" cy="6311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实验2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推断统计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300" y="2036445"/>
            <a:ext cx="5720715" cy="47085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" y="1381760"/>
            <a:ext cx="5459730" cy="17684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2000" y="3388995"/>
            <a:ext cx="507428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楷体" panose="02010609060101010101" charset="-122"/>
                <a:ea typeface="楷体" panose="02010609060101010101" charset="-122"/>
              </a:rPr>
              <a:t>单因素方差分析：</a:t>
            </a:r>
            <a:endParaRPr lang="zh-CN" altLang="en-US" sz="1800" b="1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>
                <a:latin typeface="楷体" panose="02010609060101010101" charset="-122"/>
                <a:ea typeface="楷体" panose="02010609060101010101" charset="-122"/>
                <a:sym typeface="+mn-ea"/>
              </a:rPr>
              <a:t>各语言内</a:t>
            </a:r>
            <a:r>
              <a:rPr lang="zh-CN" altLang="en-US" sz="18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数字词</a:t>
            </a:r>
            <a:r>
              <a:rPr lang="zh-CN" altLang="en-US" sz="18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主效应</a:t>
            </a:r>
            <a:r>
              <a:rPr lang="zh-CN" altLang="en-US" sz="1800">
                <a:latin typeface="楷体" panose="02010609060101010101" charset="-122"/>
                <a:ea typeface="楷体" panose="02010609060101010101" charset="-122"/>
              </a:rPr>
              <a:t>均复现显著，方向一致</a:t>
            </a: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>
                <a:latin typeface="楷体" panose="02010609060101010101" charset="-122"/>
                <a:ea typeface="楷体" panose="02010609060101010101" charset="-122"/>
              </a:rPr>
              <a:t>统计量和效应量均远小于原文献结果</a:t>
            </a: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楷体" panose="02010609060101010101" charset="-122"/>
                <a:ea typeface="楷体" panose="02010609060101010101" charset="-122"/>
              </a:rPr>
              <a:t>事后比较：</a:t>
            </a:r>
            <a:endParaRPr lang="zh-CN" altLang="en-US" sz="1800" b="1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>
                <a:latin typeface="楷体" panose="02010609060101010101" charset="-122"/>
                <a:ea typeface="楷体" panose="02010609060101010101" charset="-122"/>
              </a:rPr>
              <a:t>显著性复现成功率约为60%</a:t>
            </a: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815" y="30480"/>
            <a:ext cx="4560570" cy="196469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445625" y="2303145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445625" y="3201035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445625" y="4088765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445625" y="4337050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445625" y="4765040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445625" y="5894705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9445625" y="6329045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445625" y="6548755"/>
            <a:ext cx="209296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实验3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44220" y="1501140"/>
          <a:ext cx="10686415" cy="5073650"/>
        </p:xfrm>
        <a:graphic>
          <a:graphicData uri="http://schemas.openxmlformats.org/drawingml/2006/table">
            <a:tbl>
              <a:tblPr/>
              <a:tblGrid>
                <a:gridCol w="1950720"/>
                <a:gridCol w="915670"/>
                <a:gridCol w="901065"/>
                <a:gridCol w="901065"/>
                <a:gridCol w="901065"/>
                <a:gridCol w="901065"/>
                <a:gridCol w="1054100"/>
                <a:gridCol w="1053465"/>
                <a:gridCol w="1054100"/>
                <a:gridCol w="1054100"/>
              </a:tblGrid>
              <a:tr h="254000">
                <a:tc rowSpan="2" gridSpan="2">
                  <a:txBody>
                    <a:bodyPr/>
                    <a:p>
                      <a:pPr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文献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复现结果</a:t>
                      </a:r>
                      <a:endParaRPr 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M_δ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M_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zh-CN" alt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SD_δ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SD_</a:t>
                      </a:r>
                      <a:r>
                        <a:rPr lang="zh-CN" sz="16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评级</a:t>
                      </a:r>
                      <a:endParaRPr lang="zh-CN" altLang="zh-CN" sz="16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3365">
                <a:tc vMerge="1" gridSpan="2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SD</a:t>
                      </a:r>
                      <a:endParaRPr lang="en-US" altLang="zh-CN" sz="16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Direction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TL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602.3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82.2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610.93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113.53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1.41%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27.60%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LT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627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91.6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619.74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110.07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1.17%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16.78%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Language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English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662.4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80.7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657.46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116.22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0.75%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30.56%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Hebrew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566.9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62.3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573.20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89.32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1.10%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30.25%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Mapping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A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629.6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61.2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648.95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121.35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2.98%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49.57%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010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677.3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82.3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664.35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101.67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1.95%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19.05%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665.6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658.44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117.84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1.09%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32.96%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676.9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100.2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658.10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123.97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2.86%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19.17%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575.6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61.7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579.78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78.69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0.72%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21.59%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571.1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578.16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79.49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1.22%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24.52%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538.5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65.3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556.54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97.11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3.24%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32.76%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H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582.8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62.2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578.34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99.16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0.77%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37.27%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010">
                <a:tc rowSpan="5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Days - </a:t>
                      </a: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English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Sun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584.17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56.89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585.92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54.95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0.30%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3.53%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Mon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608.41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58.02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610.09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57.80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0.28%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0.38%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Tues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723.57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101.57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716.23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112.83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1.02%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9.98%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Wed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661.83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76.61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648.74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80.38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2.02%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4.69%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Thurs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733.79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110.2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726.31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100.70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1.03%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9.43%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rowSpan="5"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Day</a:t>
                      </a: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s</a:t>
                      </a: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 - </a:t>
                      </a: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Hebrew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Sun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528.61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57.24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530.25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51.73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0.31%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10.65%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010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Mon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555.99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57.92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562.41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58.16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1.14%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0.41%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Tues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583.93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65.84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590.20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75.80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1.06%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13.14%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Wed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590.99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64.98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600.57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68.95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1.60%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5.76%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07645">
                <a:tc v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Thurs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575.41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56.64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582.60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58.54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1.23%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3.25%</a:t>
                      </a:r>
                      <a:endParaRPr lang="en-US" altLang="zh-CN" sz="1200" i="0">
                        <a:solidFill>
                          <a:srgbClr val="000000"/>
                        </a:solidFill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次要偏差</a:t>
                      </a:r>
                      <a:endParaRPr lang="zh-CN" sz="120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实验3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2420" y="3978275"/>
            <a:ext cx="5238115" cy="23221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55" y="1397000"/>
            <a:ext cx="6254750" cy="4413250"/>
          </a:xfrm>
          <a:prstGeom prst="rect">
            <a:avLst/>
          </a:prstGeom>
        </p:spPr>
      </p:pic>
      <p:pic>
        <p:nvPicPr>
          <p:cNvPr id="10" name="图片 9" descr="Exp3_main_eff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860" y="925195"/>
            <a:ext cx="5054600" cy="28886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实验3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描述统计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" name="组合 15"/>
          <p:cNvGrpSpPr/>
          <p:nvPr/>
        </p:nvGrpSpPr>
        <p:grpSpPr>
          <a:xfrm>
            <a:off x="6461125" y="133350"/>
            <a:ext cx="5426710" cy="6598276"/>
            <a:chOff x="1055" y="662"/>
            <a:chExt cx="10630" cy="1326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5" y="662"/>
              <a:ext cx="10630" cy="5080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5" y="5719"/>
              <a:ext cx="10630" cy="361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5" y="9329"/>
              <a:ext cx="10629" cy="4600"/>
            </a:xfrm>
            <a:prstGeom prst="rect">
              <a:avLst/>
            </a:prstGeom>
          </p:spPr>
        </p:pic>
      </p:grpSp>
      <p:pic>
        <p:nvPicPr>
          <p:cNvPr id="17" name="图片 16" descr="Exp3_stimul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290" y="1183640"/>
            <a:ext cx="4732020" cy="26028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rcRect l="566"/>
          <a:stretch>
            <a:fillRect/>
          </a:stretch>
        </p:blipFill>
        <p:spPr>
          <a:xfrm>
            <a:off x="1194435" y="3799840"/>
            <a:ext cx="4524375" cy="29737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实验3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推断统计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3565" y="4003675"/>
            <a:ext cx="5003800" cy="2125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映射任务：</a:t>
            </a:r>
            <a:endParaRPr lang="en-US" sz="1800" b="1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  <a:defRPr/>
            </a:pPr>
            <a:r>
              <a:rPr lang="zh-CN" altLang="en-US" sz="18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</a:t>
            </a:r>
            <a:r>
              <a:rPr lang="en-US" sz="18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一致：</a:t>
            </a: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Language主效应显著；三重交互效应显著，效应量偏差</a:t>
            </a: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较</a:t>
            </a: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小，印证原文核心发现。</a:t>
            </a:r>
            <a:endParaRPr lang="en-US" sz="18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Ø"/>
            </a:pPr>
            <a:r>
              <a:rPr lang="zh-CN" altLang="en-US" sz="1800" b="1">
                <a:solidFill>
                  <a:srgbClr val="B4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差异</a:t>
            </a:r>
            <a:r>
              <a:rPr lang="en-US" sz="1800" b="1">
                <a:solidFill>
                  <a:srgbClr val="B4505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原文Direction主效应显著，复现结果</a:t>
            </a: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不</a:t>
            </a: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显著</a:t>
            </a: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但接近边缘</a:t>
            </a: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 (p=0.084)。</a:t>
            </a:r>
            <a:endParaRPr lang="zh-CN" altLang="en-US" sz="1800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1466215"/>
            <a:ext cx="5403215" cy="15017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95" y="1440815"/>
            <a:ext cx="6166485" cy="53714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202565"/>
            <a:ext cx="5829300" cy="1104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05" y="2981960"/>
            <a:ext cx="5179695" cy="8458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285730" y="1935480"/>
            <a:ext cx="547370" cy="69405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实验3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对比</a:t>
            </a: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——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推断统计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1520" y="5083175"/>
            <a:ext cx="507428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楷体" panose="02010609060101010101" charset="-122"/>
                <a:ea typeface="楷体" panose="02010609060101010101" charset="-122"/>
              </a:rPr>
              <a:t>单因素方差分析：</a:t>
            </a:r>
            <a:endParaRPr lang="zh-CN" altLang="en-US" sz="1800" b="1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>
                <a:latin typeface="楷体" panose="02010609060101010101" charset="-122"/>
                <a:ea typeface="楷体" panose="02010609060101010101" charset="-122"/>
              </a:rPr>
              <a:t>各语言内星期词主效应均成功复现</a:t>
            </a: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800">
                <a:latin typeface="楷体" panose="02010609060101010101" charset="-122"/>
                <a:ea typeface="楷体" panose="02010609060101010101" charset="-122"/>
              </a:rPr>
              <a:t>方向与原文献一致，效应量偏差较小</a:t>
            </a: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93085"/>
            <a:ext cx="5074920" cy="19799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75" y="495300"/>
            <a:ext cx="5934075" cy="54997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" y="1346200"/>
            <a:ext cx="5102860" cy="1619885"/>
          </a:xfrm>
          <a:prstGeom prst="rect">
            <a:avLst/>
          </a:prstGeom>
        </p:spPr>
      </p:pic>
      <p:cxnSp>
        <p:nvCxnSpPr>
          <p:cNvPr id="11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文本框 5"/>
          <p:cNvSpPr txBox="1"/>
          <p:nvPr/>
        </p:nvSpPr>
        <p:spPr>
          <a:xfrm>
            <a:off x="6246495" y="5995035"/>
            <a:ext cx="49574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楷体" panose="02010609060101010101" charset="-122"/>
                <a:ea typeface="楷体" panose="02010609060101010101" charset="-122"/>
                <a:sym typeface="+mn-ea"/>
              </a:rPr>
              <a:t>事后比较：</a:t>
            </a:r>
            <a:r>
              <a:rPr lang="zh-CN" altLang="en-US" sz="1800">
                <a:latin typeface="楷体" panose="02010609060101010101" charset="-122"/>
                <a:ea typeface="楷体" panose="02010609060101010101" charset="-122"/>
                <a:sym typeface="+mn-ea"/>
              </a:rPr>
              <a:t>显著性复现成功率约为</a:t>
            </a:r>
            <a:r>
              <a:rPr lang="en-US" altLang="zh-CN" sz="1800">
                <a:latin typeface="楷体" panose="02010609060101010101" charset="-122"/>
                <a:ea typeface="楷体" panose="02010609060101010101" charset="-122"/>
                <a:sym typeface="+mn-ea"/>
              </a:rPr>
              <a:t>100</a:t>
            </a:r>
            <a:r>
              <a:rPr lang="zh-CN" altLang="en-US" sz="1800">
                <a:latin typeface="楷体" panose="02010609060101010101" charset="-122"/>
                <a:ea typeface="楷体" panose="02010609060101010101" charset="-122"/>
                <a:sym typeface="+mn-ea"/>
              </a:rPr>
              <a:t>%</a:t>
            </a: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375" y="495300"/>
            <a:ext cx="5934075" cy="54997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46495" y="5995035"/>
            <a:ext cx="49574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>
                <a:latin typeface="楷体" panose="02010609060101010101" charset="-122"/>
                <a:ea typeface="楷体" panose="02010609060101010101" charset="-122"/>
                <a:sym typeface="+mn-ea"/>
              </a:rPr>
              <a:t>事后比较：</a:t>
            </a:r>
            <a:r>
              <a:rPr lang="zh-CN" altLang="en-US" sz="1800">
                <a:latin typeface="楷体" panose="02010609060101010101" charset="-122"/>
                <a:ea typeface="楷体" panose="02010609060101010101" charset="-122"/>
                <a:sym typeface="+mn-ea"/>
              </a:rPr>
              <a:t>显著性复现成功率约为</a:t>
            </a:r>
            <a:r>
              <a:rPr lang="en-US" altLang="zh-CN" sz="1800">
                <a:latin typeface="楷体" panose="02010609060101010101" charset="-122"/>
                <a:ea typeface="楷体" panose="02010609060101010101" charset="-122"/>
                <a:sym typeface="+mn-ea"/>
              </a:rPr>
              <a:t>100</a:t>
            </a:r>
            <a:r>
              <a:rPr lang="zh-CN" altLang="en-US" sz="1800">
                <a:latin typeface="楷体" panose="02010609060101010101" charset="-122"/>
                <a:ea typeface="楷体" panose="02010609060101010101" charset="-122"/>
                <a:sym typeface="+mn-ea"/>
              </a:rPr>
              <a:t>%</a:t>
            </a:r>
            <a:endParaRPr lang="zh-CN" altLang="en-US" sz="180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线性混合模型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(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LMM)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</a:t>
            </a:r>
            <a:endParaRPr lang="zh-CN" alt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12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58" y="1244600"/>
            <a:ext cx="11043285" cy="53752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</a:t>
            </a:r>
            <a:r>
              <a:rPr lang="en-US" sz="3200" b="1">
                <a:solidFill>
                  <a:schemeClr val="tx1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整体可复现性</a:t>
            </a:r>
            <a:endParaRPr lang="en-US" sz="3200" b="1" i="0" u="none" strike="noStrike">
              <a:solidFill>
                <a:schemeClr val="tx1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24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11"/>
          <p:cNvSpPr/>
          <p:nvPr/>
        </p:nvSpPr>
        <p:spPr>
          <a:xfrm>
            <a:off x="1038225" y="1748790"/>
            <a:ext cx="5080000" cy="1802130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1038225" y="1748790"/>
            <a:ext cx="76200" cy="180213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45" name="AutoShape 13"/>
          <p:cNvSpPr/>
          <p:nvPr/>
        </p:nvSpPr>
        <p:spPr>
          <a:xfrm>
            <a:off x="1228725" y="1830705"/>
            <a:ext cx="4826000" cy="15646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</a:pP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核心理论结论：</a:t>
            </a:r>
            <a:r>
              <a:rPr 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方向性成立，基本可复现</a:t>
            </a:r>
            <a:endParaRPr lang="zh-CN" altLang="en-US" sz="2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数字序列加工由 FC 机制主导 (</a:t>
            </a:r>
            <a:r>
              <a:rPr lang="zh-CN" altLang="en-US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</a:t>
            </a:r>
            <a:r>
              <a:rPr lang="en-US" altLang="zh-CN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1</a:t>
            </a:r>
            <a:r>
              <a:rPr lang="zh-CN" altLang="en-US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、</a:t>
            </a:r>
            <a:r>
              <a:rPr lang="en-US" altLang="zh-CN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2)</a:t>
            </a:r>
            <a:endParaRPr lang="en-US" sz="1600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非数字序列则由 FC 与 RD 机制协同作用 (</a:t>
            </a:r>
            <a:r>
              <a:rPr lang="zh-CN" altLang="en-US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</a:t>
            </a:r>
            <a:r>
              <a:rPr lang="en-US" altLang="zh-CN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3</a:t>
            </a:r>
            <a:r>
              <a:rPr lang="en-US" sz="16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)</a:t>
            </a:r>
            <a:endParaRPr lang="zh-CN" altLang="en-US" sz="16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6" name="AutoShape 11"/>
          <p:cNvSpPr/>
          <p:nvPr/>
        </p:nvSpPr>
        <p:spPr>
          <a:xfrm>
            <a:off x="1038225" y="3922395"/>
            <a:ext cx="5080000" cy="1802130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47" name="AutoShape 12"/>
          <p:cNvSpPr/>
          <p:nvPr/>
        </p:nvSpPr>
        <p:spPr>
          <a:xfrm>
            <a:off x="1038225" y="3922395"/>
            <a:ext cx="76200" cy="1802130"/>
          </a:xfrm>
          <a:prstGeom prst="roundRect">
            <a:avLst>
              <a:gd name="adj" fmla="val 0"/>
            </a:avLst>
          </a:prstGeom>
          <a:solidFill>
            <a:srgbClr val="93B5A9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48" name="AutoShape 13"/>
          <p:cNvSpPr/>
          <p:nvPr/>
        </p:nvSpPr>
        <p:spPr>
          <a:xfrm>
            <a:off x="1228725" y="4004310"/>
            <a:ext cx="4826000" cy="15646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</a:pPr>
            <a:r>
              <a:rPr lang="zh-CN" altLang="en-US" sz="20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精细统计指标：可靠性存疑，需审慎解读</a:t>
            </a:r>
            <a:endParaRPr lang="zh-CN" altLang="en-US" sz="2000" b="1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复现的效应量（</a:t>
            </a:r>
            <a:r>
              <a:rPr lang="en-US" altLang="zh-CN" sz="1600" b="0" i="1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F</a:t>
            </a:r>
            <a:r>
              <a:rPr lang="zh-CN" altLang="en-US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值、</a:t>
            </a:r>
            <a:r>
              <a:rPr lang="en-US" altLang="zh-CN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η²p）</a:t>
            </a:r>
            <a:r>
              <a:rPr lang="zh-CN" altLang="en-US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普遍小于原报告</a:t>
            </a:r>
            <a:endParaRPr lang="zh-CN" altLang="en-US" sz="16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实验2的</a:t>
            </a:r>
            <a:r>
              <a:rPr lang="en-US" altLang="zh-CN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Language</a:t>
            </a:r>
            <a:r>
              <a:rPr lang="zh-CN" altLang="en-US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主效应对统计方法敏感</a:t>
            </a:r>
            <a:endParaRPr lang="zh-CN" altLang="en-US" sz="16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实验1、2中部分事后比较的显著性无法稳定复现</a:t>
            </a:r>
            <a:endParaRPr lang="zh-CN" altLang="en-US" sz="16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6998970" y="4105275"/>
          <a:ext cx="4072255" cy="1600200"/>
        </p:xfrm>
        <a:graphic>
          <a:graphicData uri="http://schemas.openxmlformats.org/drawingml/2006/table">
            <a:tbl>
              <a:tblPr/>
              <a:tblGrid>
                <a:gridCol w="1357418"/>
                <a:gridCol w="1357418"/>
                <a:gridCol w="1357418"/>
              </a:tblGrid>
              <a:tr h="0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>
                          <a:latin typeface="Times New Roman" panose="02020603050405020304"/>
                          <a:ea typeface="黑体" panose="02010609060101010101" charset="-122"/>
                          <a:sym typeface="+mn-ea"/>
                        </a:rPr>
                        <a:t>推论一致性的评估表</a:t>
                      </a:r>
                      <a:r>
                        <a:rPr lang="en-US" altLang="zh-CN" sz="1400" b="1">
                          <a:latin typeface="Times New Roman" panose="02020603050405020304"/>
                          <a:ea typeface="黑体" panose="02010609060101010101" charset="-122"/>
                          <a:sym typeface="+mn-ea"/>
                        </a:rPr>
                        <a:t> </a:t>
                      </a:r>
                      <a:r>
                        <a:rPr lang="en-US" altLang="zh-CN" sz="1400" b="1"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(RM-</a:t>
                      </a:r>
                      <a:r>
                        <a:rPr lang="en-US" altLang="zh-CN" sz="1400" b="1">
                          <a:latin typeface="Times New Roman" panose="02020603050405020304"/>
                          <a:ea typeface="Times New Roman" panose="02020603050405020304"/>
                          <a:sym typeface="+mn-ea"/>
                        </a:rPr>
                        <a:t>ANOVA)</a:t>
                      </a:r>
                      <a:endParaRPr lang="zh-CN" altLang="en-US" sz="1400" b="1">
                        <a:latin typeface="Times New Roman" panose="020206030504050203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 rowSpan="2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推论一致性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数量及占比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1">
                          <a:latin typeface="Times New Roman" panose="02020603050405020304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1400" i="1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400" i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1">
                          <a:latin typeface="Times New Roman" panose="02020603050405020304"/>
                          <a:ea typeface="Times New Roman" panose="02020603050405020304"/>
                        </a:rPr>
                        <a:t>%</a:t>
                      </a:r>
                      <a:endParaRPr lang="en-US" altLang="zh-CN" sz="1400" i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一致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75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76.53%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7495"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不一致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23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23.47%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6970395" y="1642745"/>
          <a:ext cx="4100830" cy="2240280"/>
        </p:xfrm>
        <a:graphic>
          <a:graphicData uri="http://schemas.openxmlformats.org/drawingml/2006/table">
            <a:tbl>
              <a:tblPr/>
              <a:tblGrid>
                <a:gridCol w="2287270"/>
                <a:gridCol w="906780"/>
                <a:gridCol w="906780"/>
              </a:tblGrid>
              <a:tr h="309245">
                <a:tc gridSpan="3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400" b="1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结果可复现性的评估表</a:t>
                      </a:r>
                      <a:endParaRPr lang="zh-CN" altLang="en-US" sz="1400" b="1">
                        <a:latin typeface="Times New Roman" panose="02020603050405020304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 rowSpan="2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可复现性情况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数量及占比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 vMerge="1">
                  <a:tcPr>
                    <a:lnL>
                      <a:noFill/>
                    </a:lnL>
                    <a:lnR>
                      <a:noFill/>
                    </a:lnR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1">
                          <a:latin typeface="Times New Roman" panose="02020603050405020304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1400" i="1">
                          <a:latin typeface="Times New Roman" panose="02020603050405020304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400" i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i="1">
                          <a:latin typeface="Times New Roman" panose="02020603050405020304"/>
                          <a:ea typeface="Times New Roman" panose="02020603050405020304"/>
                        </a:rPr>
                        <a:t>%</a:t>
                      </a:r>
                      <a:endParaRPr lang="en-US" altLang="zh-CN" sz="1400" i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完全一致(δ = 0%)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23.26%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偏差较小(0% &lt; δ &lt; 10%)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51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59.30%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偏差较大(δ ＞ 10%)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15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17.44%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7495"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因舍入导致的偏差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150000"/>
                        </a:lnSpc>
                        <a:buSzTx/>
                      </a:pP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0%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02 偏差来源分析</a:t>
            </a:r>
            <a:endParaRPr lang="en-US" sz="3200" b="1" i="0" u="none" strike="noStrike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cxnSp>
        <p:nvCxnSpPr>
          <p:cNvPr id="24" name="Connector 3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A8F7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11"/>
          <p:cNvSpPr/>
          <p:nvPr/>
        </p:nvSpPr>
        <p:spPr>
          <a:xfrm>
            <a:off x="762000" y="4635500"/>
            <a:ext cx="10668000" cy="1452245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26" name="AutoShape 12"/>
          <p:cNvSpPr/>
          <p:nvPr>
            <p:custDataLst>
              <p:tags r:id="rId1"/>
            </p:custDataLst>
          </p:nvPr>
        </p:nvSpPr>
        <p:spPr>
          <a:xfrm>
            <a:off x="762000" y="4635500"/>
            <a:ext cx="160020" cy="1452245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27" name="AutoShape 13"/>
          <p:cNvSpPr/>
          <p:nvPr>
            <p:custDataLst>
              <p:tags r:id="rId2"/>
            </p:custDataLst>
          </p:nvPr>
        </p:nvSpPr>
        <p:spPr>
          <a:xfrm>
            <a:off x="1126490" y="4717415"/>
            <a:ext cx="9960610" cy="12604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</a:pPr>
            <a:r>
              <a:rPr lang="zh-CN" altLang="en-US" sz="24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软件与统计方法差异</a:t>
            </a:r>
            <a:endParaRPr lang="zh-CN" altLang="en-US" sz="2400" b="1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SPSS vs. R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Greenhouse-Geisser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校正的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ε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系数计算、自由度舍入方式等方面可能存在细微差异</a:t>
            </a:r>
            <a:endParaRPr lang="zh-CN" alt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传统RM-ANOVA vs. </a:t>
            </a:r>
            <a:r>
              <a:rPr lang="en-US" altLang="zh-CN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LMM</a:t>
            </a: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实验2的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Language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主效应（</a:t>
            </a:r>
            <a:r>
              <a:rPr 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RM-ANOVA: </a:t>
            </a: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不显著</a:t>
            </a:r>
            <a:r>
              <a:rPr lang="en-US" altLang="zh-CN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 vs. 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LMM: 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显著）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 </a:t>
            </a:r>
            <a:endParaRPr lang="en-US" altLang="zh-CN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0" name="AutoShape 11"/>
          <p:cNvSpPr/>
          <p:nvPr>
            <p:custDataLst>
              <p:tags r:id="rId3"/>
            </p:custDataLst>
          </p:nvPr>
        </p:nvSpPr>
        <p:spPr>
          <a:xfrm>
            <a:off x="762000" y="1487805"/>
            <a:ext cx="10668000" cy="1452245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5" name="AutoShape 12"/>
          <p:cNvSpPr/>
          <p:nvPr>
            <p:custDataLst>
              <p:tags r:id="rId4"/>
            </p:custDataLst>
          </p:nvPr>
        </p:nvSpPr>
        <p:spPr>
          <a:xfrm>
            <a:off x="762000" y="1487805"/>
            <a:ext cx="160020" cy="1452245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6" name="AutoShape 13"/>
          <p:cNvSpPr/>
          <p:nvPr>
            <p:custDataLst>
              <p:tags r:id="rId5"/>
            </p:custDataLst>
          </p:nvPr>
        </p:nvSpPr>
        <p:spPr>
          <a:xfrm>
            <a:off x="1126490" y="1569720"/>
            <a:ext cx="9960610" cy="12604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</a:pPr>
            <a:r>
              <a:rPr lang="en-US" sz="24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校正步骤不透明</a:t>
            </a:r>
            <a:endParaRPr lang="en-US" sz="2400" b="1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手指校正和姿势校</a:t>
            </a:r>
            <a:r>
              <a:rPr lang="zh-CN" altLang="en-US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正</a:t>
            </a:r>
            <a:r>
              <a:rPr lang="en-US" altLang="zh-CN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：具体校正公式的细节在文中未完全公开（如扣减顺序）</a:t>
            </a:r>
            <a:endParaRPr lang="en-US" altLang="zh-CN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两步RT校正会叠加舍入误差，放大偏差，影响结果精度</a:t>
            </a:r>
            <a:endParaRPr lang="en-US" altLang="zh-CN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7" name="AutoShape 11"/>
          <p:cNvSpPr/>
          <p:nvPr>
            <p:custDataLst>
              <p:tags r:id="rId6"/>
            </p:custDataLst>
          </p:nvPr>
        </p:nvSpPr>
        <p:spPr>
          <a:xfrm>
            <a:off x="762000" y="3048635"/>
            <a:ext cx="10668000" cy="1452245"/>
          </a:xfrm>
          <a:prstGeom prst="roundRect">
            <a:avLst>
              <a:gd name="adj" fmla="val 0"/>
            </a:avLst>
          </a:prstGeom>
          <a:solidFill>
            <a:srgbClr val="5A8F7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8" name="AutoShape 12"/>
          <p:cNvSpPr/>
          <p:nvPr>
            <p:custDataLst>
              <p:tags r:id="rId7"/>
            </p:custDataLst>
          </p:nvPr>
        </p:nvSpPr>
        <p:spPr>
          <a:xfrm>
            <a:off x="762000" y="3048635"/>
            <a:ext cx="160020" cy="1452245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50000"/>
              </a:lnSpc>
              <a:defRPr/>
            </a:pPr>
            <a:endParaRPr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19" name="AutoShape 13"/>
          <p:cNvSpPr/>
          <p:nvPr>
            <p:custDataLst>
              <p:tags r:id="rId8"/>
            </p:custDataLst>
          </p:nvPr>
        </p:nvSpPr>
        <p:spPr>
          <a:xfrm>
            <a:off x="1126490" y="3130550"/>
            <a:ext cx="9960610" cy="12604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</a:pPr>
            <a:r>
              <a:rPr lang="zh-CN" altLang="en-US" sz="2400" b="1">
                <a:solidFill>
                  <a:srgbClr val="333333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异常值处理方法差异</a:t>
            </a:r>
            <a:endParaRPr lang="zh-CN" altLang="en-US" sz="2400" b="1">
              <a:solidFill>
                <a:srgbClr val="333333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文献表述不清：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overall or individual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；基线与映射任务均剔除异常值？</a:t>
            </a:r>
            <a:endParaRPr lang="zh-CN" alt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异常值处理的顺序未知：校正前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 or 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Noto Sans SC" panose="020B0200000000000000" charset="-122"/>
              </a:rPr>
              <a:t>校正后</a:t>
            </a:r>
            <a:endParaRPr lang="zh-CN" altLang="en-US" sz="1800" b="0" i="0" u="none" strike="noStrike">
              <a:solidFill>
                <a:srgbClr val="555555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5A8F7B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THANK YOU!</a:t>
            </a:r>
            <a:endParaRPr lang="en-US" sz="4800" b="1" i="0" u="none" strike="noStrike">
              <a:solidFill>
                <a:srgbClr val="5A8F7B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334000" y="4064000"/>
            <a:ext cx="1524000" cy="50800"/>
          </a:xfrm>
          <a:prstGeom prst="roundRect">
            <a:avLst>
              <a:gd name="adj" fmla="val 0"/>
            </a:avLst>
          </a:prstGeom>
          <a:solidFill>
            <a:srgbClr val="5A8F7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5.85538833262626,&quot;left&quot;:58.3,&quot;top&quot;:157,&quot;width&quot;:855.7}"/>
</p:tagLst>
</file>

<file path=ppt/tags/tag2.xml><?xml version="1.0" encoding="utf-8"?>
<p:tagLst xmlns:p="http://schemas.openxmlformats.org/presentationml/2006/main">
  <p:tag name="KSO_WM_DIAGRAM_VIRTUALLY_FRAME" val="{&quot;height&quot;:335.85538833262626,&quot;left&quot;:58.3,&quot;top&quot;:157,&quot;width&quot;:855.7}"/>
</p:tagLst>
</file>

<file path=ppt/tags/tag3.xml><?xml version="1.0" encoding="utf-8"?>
<p:tagLst xmlns:p="http://schemas.openxmlformats.org/presentationml/2006/main">
  <p:tag name="KSO_WM_DIAGRAM_VIRTUALLY_FRAME" val="{&quot;height&quot;:335.85538833262626,&quot;left&quot;:58.3,&quot;top&quot;:157,&quot;width&quot;:855.7}"/>
</p:tagLst>
</file>

<file path=ppt/tags/tag4.xml><?xml version="1.0" encoding="utf-8"?>
<p:tagLst xmlns:p="http://schemas.openxmlformats.org/presentationml/2006/main">
  <p:tag name="KSO_WM_DIAGRAM_VIRTUALLY_FRAME" val="{&quot;height&quot;:335.85538833262626,&quot;left&quot;:58.3,&quot;top&quot;:157,&quot;width&quot;:855.7}"/>
</p:tagLst>
</file>

<file path=ppt/tags/tag5.xml><?xml version="1.0" encoding="utf-8"?>
<p:tagLst xmlns:p="http://schemas.openxmlformats.org/presentationml/2006/main">
  <p:tag name="KSO_WM_DIAGRAM_VIRTUALLY_FRAME" val="{&quot;height&quot;:335.85538833262626,&quot;left&quot;:58.3,&quot;top&quot;:157,&quot;width&quot;:855.7}"/>
</p:tagLst>
</file>

<file path=ppt/tags/tag6.xml><?xml version="1.0" encoding="utf-8"?>
<p:tagLst xmlns:p="http://schemas.openxmlformats.org/presentationml/2006/main">
  <p:tag name="KSO_WM_DIAGRAM_VIRTUALLY_FRAME" val="{&quot;height&quot;:335.85538833262626,&quot;left&quot;:58.3,&quot;top&quot;:157,&quot;width&quot;:855.7}"/>
</p:tagLst>
</file>

<file path=ppt/tags/tag7.xml><?xml version="1.0" encoding="utf-8"?>
<p:tagLst xmlns:p="http://schemas.openxmlformats.org/presentationml/2006/main">
  <p:tag name="KSO_WM_DIAGRAM_VIRTUALLY_FRAME" val="{&quot;height&quot;:335.85538833262626,&quot;left&quot;:58.3,&quot;top&quot;:157,&quot;width&quot;:855.7}"/>
</p:tagLst>
</file>

<file path=ppt/tags/tag8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9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0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1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2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3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4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5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6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7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8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19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20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21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22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23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24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25.xml><?xml version="1.0" encoding="utf-8"?>
<p:tagLst xmlns:p="http://schemas.openxmlformats.org/presentationml/2006/main">
  <p:tag name="KSO_WM_DIAGRAM_VIRTUALLY_FRAME" val="{&quot;height&quot;:210,&quot;left&quot;:60,&quot;top&quot;:270,&quot;width&quot;:850}"/>
</p:tagLst>
</file>

<file path=ppt/tags/tag26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27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28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29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0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1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2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3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4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5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6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7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8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39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40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41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42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43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44.xml><?xml version="1.0" encoding="utf-8"?>
<p:tagLst xmlns:p="http://schemas.openxmlformats.org/presentationml/2006/main">
  <p:tag name="KSO_WM_DIAGRAM_VIRTUALLY_FRAME" val="{&quot;height&quot;:348.7,&quot;left&quot;:69.2,&quot;top&quot;:114.2,&quot;width&quot;:862.2}"/>
</p:tagLst>
</file>

<file path=ppt/tags/tag45.xml><?xml version="1.0" encoding="utf-8"?>
<p:tagLst xmlns:p="http://schemas.openxmlformats.org/presentationml/2006/main">
  <p:tag name="TABLE_ENDDRAG_ORIGIN_RECT" val="840*320"/>
  <p:tag name="TABLE_ENDDRAG_RECT" val="60*115*840*320"/>
</p:tagLst>
</file>

<file path=ppt/tags/tag46.xml><?xml version="1.0" encoding="utf-8"?>
<p:tagLst xmlns:p="http://schemas.openxmlformats.org/presentationml/2006/main">
  <p:tag name="TABLE_ENDDRAG_ORIGIN_RECT" val="732*352"/>
  <p:tag name="TABLE_ENDDRAG_RECT" val="109*162*732*352"/>
</p:tagLst>
</file>

<file path=ppt/tags/tag47.xml><?xml version="1.0" encoding="utf-8"?>
<p:tagLst xmlns:p="http://schemas.openxmlformats.org/presentationml/2006/main">
  <p:tag name="TABLE_ENDDRAG_ORIGIN_RECT" val="732*307"/>
  <p:tag name="TABLE_ENDDRAG_RECT" val="113*135*732*307"/>
</p:tagLst>
</file>

<file path=ppt/tags/tag48.xml><?xml version="1.0" encoding="utf-8"?>
<p:tagLst xmlns:p="http://schemas.openxmlformats.org/presentationml/2006/main">
  <p:tag name="TABLE_ENDDRAG_ORIGIN_RECT" val="320*126"/>
  <p:tag name="TABLE_ENDDRAG_RECT" val="551*321*320*126"/>
</p:tagLst>
</file>

<file path=ppt/tags/tag49.xml><?xml version="1.0" encoding="utf-8"?>
<p:tagLst xmlns:p="http://schemas.openxmlformats.org/presentationml/2006/main">
  <p:tag name="KSO_WM_DIAGRAM_VIRTUALLY_FRAME" val="{&quot;height&quot;:239.3,&quot;left&quot;:60,&quot;top&quot;:240.05,&quot;width&quot;:813}"/>
</p:tagLst>
</file>

<file path=ppt/tags/tag50.xml><?xml version="1.0" encoding="utf-8"?>
<p:tagLst xmlns:p="http://schemas.openxmlformats.org/presentationml/2006/main">
  <p:tag name="KSO_WM_DIAGRAM_VIRTUALLY_FRAME" val="{&quot;height&quot;:239.3,&quot;left&quot;:60,&quot;top&quot;:240.05,&quot;width&quot;:813}"/>
</p:tagLst>
</file>

<file path=ppt/tags/tag51.xml><?xml version="1.0" encoding="utf-8"?>
<p:tagLst xmlns:p="http://schemas.openxmlformats.org/presentationml/2006/main">
  <p:tag name="KSO_WM_DIAGRAM_VIRTUALLY_FRAME" val="{&quot;height&quot;:362.2,&quot;left&quot;:60,&quot;top&quot;:117.15,&quot;width&quot;:840}"/>
</p:tagLst>
</file>

<file path=ppt/tags/tag52.xml><?xml version="1.0" encoding="utf-8"?>
<p:tagLst xmlns:p="http://schemas.openxmlformats.org/presentationml/2006/main">
  <p:tag name="KSO_WM_DIAGRAM_VIRTUALLY_FRAME" val="{&quot;height&quot;:362.2,&quot;left&quot;:60,&quot;top&quot;:117.15,&quot;width&quot;:840}"/>
</p:tagLst>
</file>

<file path=ppt/tags/tag53.xml><?xml version="1.0" encoding="utf-8"?>
<p:tagLst xmlns:p="http://schemas.openxmlformats.org/presentationml/2006/main">
  <p:tag name="KSO_WM_DIAGRAM_VIRTUALLY_FRAME" val="{&quot;height&quot;:362.2,&quot;left&quot;:60,&quot;top&quot;:117.15,&quot;width&quot;:840}"/>
</p:tagLst>
</file>

<file path=ppt/tags/tag54.xml><?xml version="1.0" encoding="utf-8"?>
<p:tagLst xmlns:p="http://schemas.openxmlformats.org/presentationml/2006/main">
  <p:tag name="KSO_WM_DIAGRAM_VIRTUALLY_FRAME" val="{&quot;height&quot;:362.2,&quot;left&quot;:60,&quot;top&quot;:117.15,&quot;width&quot;:840}"/>
</p:tagLst>
</file>

<file path=ppt/tags/tag55.xml><?xml version="1.0" encoding="utf-8"?>
<p:tagLst xmlns:p="http://schemas.openxmlformats.org/presentationml/2006/main">
  <p:tag name="KSO_WM_DIAGRAM_VIRTUALLY_FRAME" val="{&quot;height&quot;:362.2,&quot;left&quot;:60,&quot;top&quot;:117.15,&quot;width&quot;:840}"/>
</p:tagLst>
</file>

<file path=ppt/tags/tag56.xml><?xml version="1.0" encoding="utf-8"?>
<p:tagLst xmlns:p="http://schemas.openxmlformats.org/presentationml/2006/main">
  <p:tag name="KSO_WM_DIAGRAM_VIRTUALLY_FRAME" val="{&quot;height&quot;:362.2,&quot;left&quot;:60,&quot;top&quot;:117.15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9305</Words>
  <Application>WPS 演示</Application>
  <PresentationFormat/>
  <Paragraphs>2419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25</vt:i4>
      </vt:variant>
      <vt:variant>
        <vt:lpstr>幻灯片标题</vt:lpstr>
      </vt:variant>
      <vt:variant>
        <vt:i4>33</vt:i4>
      </vt:variant>
    </vt:vector>
  </HeadingPairs>
  <TitlesOfParts>
    <vt:vector size="70" baseType="lpstr">
      <vt:lpstr>Arial</vt:lpstr>
      <vt:lpstr>宋体</vt:lpstr>
      <vt:lpstr>Wingdings</vt:lpstr>
      <vt:lpstr>Arial</vt:lpstr>
      <vt:lpstr>Times New Roman</vt:lpstr>
      <vt:lpstr>楷体</vt:lpstr>
      <vt:lpstr>Noto Sans SC</vt:lpstr>
      <vt:lpstr>Wingdings</vt:lpstr>
      <vt:lpstr>Times New Roman</vt:lpstr>
      <vt:lpstr>微软雅黑</vt:lpstr>
      <vt:lpstr>Arial Unicode MS</vt:lpstr>
      <vt:lpstr>黑体</vt:lpstr>
      <vt:lpstr>Office 主题​​</vt:lpstr>
      <vt:lpstr>默认主题</vt:lpstr>
      <vt:lpstr>1_默认主题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12_默认主题</vt:lpstr>
      <vt:lpstr>13_默认主题</vt:lpstr>
      <vt:lpstr>14_默认主题</vt:lpstr>
      <vt:lpstr>17_默认主题</vt:lpstr>
      <vt:lpstr>18_默认主题</vt:lpstr>
      <vt:lpstr>19_默认主题</vt:lpstr>
      <vt:lpstr>20_默认主题</vt:lpstr>
      <vt:lpstr>21_默认主题</vt:lpstr>
      <vt:lpstr>20_默认主题</vt:lpstr>
      <vt:lpstr>22_默认主题</vt:lpstr>
      <vt:lpstr>23_默认主题</vt:lpstr>
      <vt:lpstr>24_默认主题</vt:lpstr>
      <vt:lpstr>26_默认主题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Lydia</cp:lastModifiedBy>
  <cp:revision>58</cp:revision>
  <dcterms:created xsi:type="dcterms:W3CDTF">2026-06-22T15:07:00Z</dcterms:created>
  <dcterms:modified xsi:type="dcterms:W3CDTF">2026-06-25T11:29:57Z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{"Label":"1","ContentProducer":"001191110102MACQD9K64010000","ProduceID":"7654235648719228108","ReservedCode1":"","ContentPropagator":"","PropagateID":"","ReservedCode2":""}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A232861DCFC24A0CB10D84CB0885DC11_12</vt:lpwstr>
  </property>
</Properties>
</file>